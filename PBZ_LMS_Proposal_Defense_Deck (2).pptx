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65760"/>
          </a:xfrm>
          <a:prstGeom prst="rect">
            <a:avLst/>
          </a:prstGeom>
          <a:solidFill>
            <a:srgbClr val="0068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548640"/>
            <a:ext cx="11094415" cy="5760720"/>
          </a:xfrm>
          <a:prstGeom prst="roundRect">
            <a:avLst/>
          </a:prstGeom>
          <a:noFill/>
          <a:ln w="317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822960"/>
            <a:ext cx="3474720" cy="11887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1051560" y="914400"/>
            <a:ext cx="1694046" cy="1005840"/>
          </a:xfrm>
          <a:prstGeom prst="rect">
            <a:avLst/>
          </a:prstGeom>
        </p:spPr>
      </p:pic>
      <p:sp>
        <p:nvSpPr>
          <p:cNvPr id="7" name="TextBox 6"/>
          <p:cNvSpPr txBox="1"/>
          <p:nvPr/>
        </p:nvSpPr>
        <p:spPr>
          <a:xfrm>
            <a:off x="914400" y="2194560"/>
            <a:ext cx="10332720" cy="1920240"/>
          </a:xfrm>
          <a:prstGeom prst="rect">
            <a:avLst/>
          </a:prstGeom>
          <a:noFill/>
        </p:spPr>
        <p:txBody>
          <a:bodyPr wrap="square">
            <a:spAutoFit/>
          </a:bodyPr>
          <a:lstStyle/>
          <a:p>
            <a:pPr>
              <a:defRPr sz="1300" b="1">
                <a:solidFill>
                  <a:srgbClr val="005B8E"/>
                </a:solidFill>
              </a:defRPr>
            </a:pPr>
            <a:r>
              <a:t>THE PEOPLE'S BANK OF ZANZIBAR LTD (PBZ)</a:t>
            </a:r>
          </a:p>
          <a:p>
            <a:pPr>
              <a:defRPr sz="2800" b="1">
                <a:solidFill>
                  <a:srgbClr val="006837"/>
                </a:solidFill>
              </a:defRPr>
            </a:pPr>
            <a:r>
              <a:t>Enterprise Learning Management System (LMS)</a:t>
            </a:r>
          </a:p>
          <a:p>
            <a:pPr>
              <a:defRPr sz="1800" b="1">
                <a:solidFill>
                  <a:srgbClr val="0088CC"/>
                </a:solidFill>
              </a:defRPr>
            </a:pPr>
            <a:r>
              <a:t>Boardroom Proposal Defense &amp; Management Presentation Dossier</a:t>
            </a:r>
          </a:p>
        </p:txBody>
      </p:sp>
      <p:sp>
        <p:nvSpPr>
          <p:cNvPr id="8" name="Rounded Rectangle 7"/>
          <p:cNvSpPr/>
          <p:nvPr/>
        </p:nvSpPr>
        <p:spPr>
          <a:xfrm>
            <a:off x="914400" y="4297680"/>
            <a:ext cx="2423160" cy="1280160"/>
          </a:xfrm>
          <a:prstGeom prst="roundRect">
            <a:avLst/>
          </a:prstGeom>
          <a:solidFill>
            <a:srgbClr val="F0FDF4"/>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389120"/>
            <a:ext cx="2240280" cy="1097280"/>
          </a:xfrm>
          <a:prstGeom prst="rect">
            <a:avLst/>
          </a:prstGeom>
          <a:noFill/>
        </p:spPr>
        <p:txBody>
          <a:bodyPr wrap="square">
            <a:spAutoFit/>
          </a:bodyPr>
          <a:lstStyle/>
          <a:p>
            <a:pPr>
              <a:defRPr sz="1900" b="1">
                <a:solidFill>
                  <a:srgbClr val="006837"/>
                </a:solidFill>
              </a:defRPr>
            </a:pPr>
            <a:r>
              <a:t>34+ Branches</a:t>
            </a:r>
          </a:p>
          <a:p>
            <a:pPr>
              <a:defRPr sz="950">
                <a:solidFill>
                  <a:srgbClr val="334155"/>
                </a:solidFill>
              </a:defRPr>
            </a:pPr>
            <a:r>
              <a:t>Unguja, Pemba &amp; Mainland Reach</a:t>
            </a:r>
          </a:p>
        </p:txBody>
      </p:sp>
      <p:sp>
        <p:nvSpPr>
          <p:cNvPr id="10" name="Rounded Rectangle 9"/>
          <p:cNvSpPr/>
          <p:nvPr/>
        </p:nvSpPr>
        <p:spPr>
          <a:xfrm>
            <a:off x="3547872" y="4297680"/>
            <a:ext cx="2423160" cy="1280160"/>
          </a:xfrm>
          <a:prstGeom prst="roundRect">
            <a:avLst/>
          </a:prstGeom>
          <a:solidFill>
            <a:srgbClr val="F0F9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4389120"/>
            <a:ext cx="2240280" cy="1097280"/>
          </a:xfrm>
          <a:prstGeom prst="rect">
            <a:avLst/>
          </a:prstGeom>
          <a:noFill/>
        </p:spPr>
        <p:txBody>
          <a:bodyPr wrap="square">
            <a:spAutoFit/>
          </a:bodyPr>
          <a:lstStyle/>
          <a:p>
            <a:pPr>
              <a:defRPr sz="1900" b="1">
                <a:solidFill>
                  <a:srgbClr val="005B8E"/>
                </a:solidFill>
              </a:defRPr>
            </a:pPr>
            <a:r>
              <a:t>1,200+ Staff</a:t>
            </a:r>
          </a:p>
          <a:p>
            <a:pPr>
              <a:defRPr sz="950">
                <a:solidFill>
                  <a:srgbClr val="334155"/>
                </a:solidFill>
              </a:defRPr>
            </a:pPr>
            <a:r>
              <a:t>Zero-Downtime Microlearning</a:t>
            </a:r>
          </a:p>
        </p:txBody>
      </p:sp>
      <p:sp>
        <p:nvSpPr>
          <p:cNvPr id="12" name="Rounded Rectangle 11"/>
          <p:cNvSpPr/>
          <p:nvPr/>
        </p:nvSpPr>
        <p:spPr>
          <a:xfrm>
            <a:off x="6181344" y="4297680"/>
            <a:ext cx="2423160" cy="1280160"/>
          </a:xfrm>
          <a:prstGeom prst="roundRect">
            <a:avLst/>
          </a:prstGeom>
          <a:solidFill>
            <a:srgbClr val="F0FDF4"/>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2784" y="4389120"/>
            <a:ext cx="2240280" cy="1097280"/>
          </a:xfrm>
          <a:prstGeom prst="rect">
            <a:avLst/>
          </a:prstGeom>
          <a:noFill/>
        </p:spPr>
        <p:txBody>
          <a:bodyPr wrap="square">
            <a:spAutoFit/>
          </a:bodyPr>
          <a:lstStyle/>
          <a:p>
            <a:pPr>
              <a:defRPr sz="1900" b="1">
                <a:solidFill>
                  <a:srgbClr val="006837"/>
                </a:solidFill>
              </a:defRPr>
            </a:pPr>
            <a:r>
              <a:t>100% Sovereign</a:t>
            </a:r>
          </a:p>
          <a:p>
            <a:pPr>
              <a:defRPr sz="950">
                <a:solidFill>
                  <a:srgbClr val="334155"/>
                </a:solidFill>
              </a:defRPr>
            </a:pPr>
            <a:r>
              <a:t>0 TZS Core License &amp; PDPA Compliant</a:t>
            </a:r>
          </a:p>
        </p:txBody>
      </p:sp>
      <p:sp>
        <p:nvSpPr>
          <p:cNvPr id="14" name="Rounded Rectangle 13"/>
          <p:cNvSpPr/>
          <p:nvPr/>
        </p:nvSpPr>
        <p:spPr>
          <a:xfrm>
            <a:off x="8814816" y="4297680"/>
            <a:ext cx="2423160" cy="1280160"/>
          </a:xfrm>
          <a:prstGeom prst="roundRect">
            <a:avLst/>
          </a:prstGeom>
          <a:solidFill>
            <a:srgbClr val="F0F9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06256" y="4389120"/>
            <a:ext cx="2240280" cy="1097280"/>
          </a:xfrm>
          <a:prstGeom prst="rect">
            <a:avLst/>
          </a:prstGeom>
          <a:noFill/>
        </p:spPr>
        <p:txBody>
          <a:bodyPr wrap="square">
            <a:spAutoFit/>
          </a:bodyPr>
          <a:lstStyle/>
          <a:p>
            <a:pPr>
              <a:defRPr sz="1900" b="1">
                <a:solidFill>
                  <a:srgbClr val="0088CC"/>
                </a:solidFill>
              </a:defRPr>
            </a:pPr>
            <a:r>
              <a:t>&gt;450M TZS</a:t>
            </a:r>
          </a:p>
          <a:p>
            <a:pPr>
              <a:defRPr sz="950">
                <a:solidFill>
                  <a:srgbClr val="334155"/>
                </a:solidFill>
              </a:defRPr>
            </a:pPr>
            <a:r>
              <a:t>3-Year Savings vs SaaS (~$170k USD)</a:t>
            </a:r>
          </a:p>
        </p:txBody>
      </p:sp>
      <p:sp>
        <p:nvSpPr>
          <p:cNvPr id="16" name="TextBox 15"/>
          <p:cNvSpPr txBox="1"/>
          <p:nvPr/>
        </p:nvSpPr>
        <p:spPr>
          <a:xfrm>
            <a:off x="914400" y="5806440"/>
            <a:ext cx="10332720" cy="457200"/>
          </a:xfrm>
          <a:prstGeom prst="rect">
            <a:avLst/>
          </a:prstGeom>
          <a:noFill/>
        </p:spPr>
        <p:txBody>
          <a:bodyPr wrap="none">
            <a:spAutoFit/>
          </a:bodyPr>
          <a:lstStyle/>
          <a:p>
            <a:pPr>
              <a:defRPr sz="950">
                <a:solidFill>
                  <a:srgbClr val="64748B"/>
                </a:solidFill>
              </a:defRPr>
            </a:pPr>
            <a:r>
              <a:t>Target: PBZ Executive Management &amp; Board Evaluation Committee  •  Base: Enterprise Moodle Banking Edition  •  Date: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Executive Summary: Strategic Imperative for PBZ</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371600"/>
            <a:ext cx="5212080" cy="2286000"/>
          </a:xfrm>
          <a:prstGeom prst="roundRect">
            <a:avLst/>
          </a:prstGeom>
          <a:solidFill>
            <a:srgbClr val="F0FDF4"/>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08760"/>
            <a:ext cx="4846320" cy="2011680"/>
          </a:xfrm>
          <a:prstGeom prst="rect">
            <a:avLst/>
          </a:prstGeom>
          <a:noFill/>
        </p:spPr>
        <p:txBody>
          <a:bodyPr wrap="square">
            <a:spAutoFit/>
          </a:bodyPr>
          <a:lstStyle/>
          <a:p>
            <a:pPr>
              <a:defRPr sz="1350" b="1">
                <a:solidFill>
                  <a:srgbClr val="006837"/>
                </a:solidFill>
              </a:defRPr>
            </a:pPr>
            <a:r>
              <a:t>1. PBZ Institutional Expansion</a:t>
            </a:r>
          </a:p>
          <a:p>
            <a:pPr>
              <a:defRPr sz="1000">
                <a:solidFill>
                  <a:srgbClr val="334155"/>
                </a:solidFill>
              </a:defRPr>
            </a:pPr>
            <a:r>
              <a:t>Incorporated in 1966 and wholly owned by the Revolutionary Government of Zanzibar, PBZ is undergoing rapid digital modernization across Unguja, Pemba, and Mainland Tanzania. Over 1,200 employees require continuous, unified banking training without escalating physical travel budgets.</a:t>
            </a:r>
          </a:p>
        </p:txBody>
      </p:sp>
      <p:sp>
        <p:nvSpPr>
          <p:cNvPr id="11" name="Rounded Rectangle 10"/>
          <p:cNvSpPr/>
          <p:nvPr/>
        </p:nvSpPr>
        <p:spPr>
          <a:xfrm>
            <a:off x="6172200" y="1371600"/>
            <a:ext cx="5212080" cy="2286000"/>
          </a:xfrm>
          <a:prstGeom prst="roundRect">
            <a:avLst/>
          </a:prstGeom>
          <a:solidFill>
            <a:srgbClr val="F0F9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508760"/>
            <a:ext cx="4846320" cy="2011680"/>
          </a:xfrm>
          <a:prstGeom prst="rect">
            <a:avLst/>
          </a:prstGeom>
          <a:noFill/>
        </p:spPr>
        <p:txBody>
          <a:bodyPr wrap="square">
            <a:spAutoFit/>
          </a:bodyPr>
          <a:lstStyle/>
          <a:p>
            <a:pPr>
              <a:defRPr sz="1350" b="1">
                <a:solidFill>
                  <a:srgbClr val="005B8E"/>
                </a:solidFill>
              </a:defRPr>
            </a:pPr>
            <a:r>
              <a:t>2. Bank of Tanzania (BOT) Mandates</a:t>
            </a:r>
          </a:p>
          <a:p>
            <a:pPr>
              <a:defRPr sz="1000">
                <a:solidFill>
                  <a:srgbClr val="334155"/>
                </a:solidFill>
              </a:defRPr>
            </a:pPr>
            <a:r>
              <a:t>Bank of Tanzania mandates annual recertification in Anti-Money Laundering (AML/CFT), Sanctions Screening, KYC, and Cyber Hygiene for all staff. Our system provides automated cohort assignment and one-click regulatory audit exports in Excel and PDF.</a:t>
            </a:r>
          </a:p>
        </p:txBody>
      </p:sp>
      <p:sp>
        <p:nvSpPr>
          <p:cNvPr id="13" name="Rounded Rectangle 12"/>
          <p:cNvSpPr/>
          <p:nvPr/>
        </p:nvSpPr>
        <p:spPr>
          <a:xfrm>
            <a:off x="731520" y="3840480"/>
            <a:ext cx="5212080" cy="2286000"/>
          </a:xfrm>
          <a:prstGeom prst="roundRect">
            <a:avLst/>
          </a:prstGeom>
          <a:solidFill>
            <a:srgbClr val="F0F9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977640"/>
            <a:ext cx="4846320" cy="2011680"/>
          </a:xfrm>
          <a:prstGeom prst="rect">
            <a:avLst/>
          </a:prstGeom>
          <a:noFill/>
        </p:spPr>
        <p:txBody>
          <a:bodyPr wrap="square">
            <a:spAutoFit/>
          </a:bodyPr>
          <a:lstStyle/>
          <a:p>
            <a:pPr>
              <a:defRPr sz="1350" b="1">
                <a:solidFill>
                  <a:srgbClr val="0088CC"/>
                </a:solidFill>
              </a:defRPr>
            </a:pPr>
            <a:r>
              <a:t>3. PBZ Ikhlas (Amana) Islamic Banking</a:t>
            </a:r>
          </a:p>
          <a:p>
            <a:pPr>
              <a:defRPr sz="1000">
                <a:solidFill>
                  <a:srgbClr val="334155"/>
                </a:solidFill>
              </a:defRPr>
            </a:pPr>
            <a:r>
              <a:t>PBZ operates both Conventional Banking and specialized Shariah-compliant Islamic Banking (PBZ Ikhlas / Amana). Off-the-shelf course catalogs cannot cover PBZ's specific Islamic financial contracts (Murabaha, Ijara, Mudaraba). Our solution provides dual curriculum pathways verified by the Shariah Board.</a:t>
            </a:r>
          </a:p>
        </p:txBody>
      </p:sp>
      <p:sp>
        <p:nvSpPr>
          <p:cNvPr id="15" name="Rounded Rectangle 14"/>
          <p:cNvSpPr/>
          <p:nvPr/>
        </p:nvSpPr>
        <p:spPr>
          <a:xfrm>
            <a:off x="6172200" y="3840480"/>
            <a:ext cx="5212080" cy="2286000"/>
          </a:xfrm>
          <a:prstGeom prst="roundRect">
            <a:avLst/>
          </a:prstGeom>
          <a:solidFill>
            <a:srgbClr val="F0FDF4"/>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977640"/>
            <a:ext cx="4846320" cy="2011680"/>
          </a:xfrm>
          <a:prstGeom prst="rect">
            <a:avLst/>
          </a:prstGeom>
          <a:noFill/>
        </p:spPr>
        <p:txBody>
          <a:bodyPr wrap="square">
            <a:spAutoFit/>
          </a:bodyPr>
          <a:lstStyle/>
          <a:p>
            <a:pPr>
              <a:defRPr sz="1350" b="1">
                <a:solidFill>
                  <a:srgbClr val="006837"/>
                </a:solidFill>
              </a:defRPr>
            </a:pPr>
            <a:r>
              <a:t>4. Sovereign Ownership vs SaaS Lock-in</a:t>
            </a:r>
          </a:p>
          <a:p>
            <a:pPr>
              <a:defRPr sz="1000">
                <a:solidFill>
                  <a:srgbClr val="334155"/>
                </a:solidFill>
              </a:defRPr>
            </a:pPr>
            <a:r>
              <a:t>Unlike proprietary SaaS platforms (Cornerstone / SAP) that charge recurring per-user fees ($60k+/yr) and store data abroad, our open enterprise model gives PBZ 100% perpetual ownership of code and data, saving over TZS 450M (~$170,000 USD) in 3 years with zero recurring license costs.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Solution Overview: Key features and strategic benefits for PBZ</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371600"/>
            <a:ext cx="3429000" cy="3657600"/>
          </a:xfrm>
          <a:prstGeom prst="roundRect">
            <a:avLst/>
          </a:prstGeom>
          <a:solidFill>
            <a:srgbClr val="F0FDF4"/>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54480"/>
            <a:ext cx="3063240" cy="3291840"/>
          </a:xfrm>
          <a:prstGeom prst="rect">
            <a:avLst/>
          </a:prstGeom>
          <a:noFill/>
        </p:spPr>
        <p:txBody>
          <a:bodyPr wrap="square">
            <a:spAutoFit/>
          </a:bodyPr>
          <a:lstStyle/>
          <a:p>
            <a:pPr>
              <a:defRPr sz="1400" b="1">
                <a:solidFill>
                  <a:srgbClr val="006837"/>
                </a:solidFill>
              </a:defRPr>
            </a:pPr>
            <a:r>
              <a:t>Automated Compliance Engine</a:t>
            </a:r>
          </a:p>
          <a:p>
            <a:br/>
            <a:pPr>
              <a:defRPr sz="1050">
                <a:solidFill>
                  <a:srgbClr val="334155"/>
                </a:solidFill>
              </a:defRPr>
            </a:pPr>
            <a:r>
              <a:t>Automated tracking for BOT mandates, AML/CFT, KYC, and Cyber Hygiene. Dynamic cohort enrollment by branch and role, automated countdown reminders, and escalation alerts to Branch Managers.</a:t>
            </a:r>
          </a:p>
        </p:txBody>
      </p:sp>
      <p:sp>
        <p:nvSpPr>
          <p:cNvPr id="11" name="Rounded Rectangle 10"/>
          <p:cNvSpPr/>
          <p:nvPr/>
        </p:nvSpPr>
        <p:spPr>
          <a:xfrm>
            <a:off x="4343400" y="1371600"/>
            <a:ext cx="3429000" cy="3657600"/>
          </a:xfrm>
          <a:prstGeom prst="roundRect">
            <a:avLst/>
          </a:prstGeom>
          <a:solidFill>
            <a:srgbClr val="F0F9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554480"/>
            <a:ext cx="3063240" cy="3291840"/>
          </a:xfrm>
          <a:prstGeom prst="rect">
            <a:avLst/>
          </a:prstGeom>
          <a:noFill/>
        </p:spPr>
        <p:txBody>
          <a:bodyPr wrap="square">
            <a:spAutoFit/>
          </a:bodyPr>
          <a:lstStyle/>
          <a:p>
            <a:pPr>
              <a:defRPr sz="1400" b="1">
                <a:solidFill>
                  <a:srgbClr val="005B8E"/>
                </a:solidFill>
              </a:defRPr>
            </a:pPr>
            <a:r>
              <a:t>Dual Curriculum Academy</a:t>
            </a:r>
          </a:p>
          <a:p>
            <a:br/>
            <a:pPr>
              <a:defRPr sz="1050">
                <a:solidFill>
                  <a:srgbClr val="334155"/>
                </a:solidFill>
              </a:defRPr>
            </a:pPr>
            <a:r>
              <a:t>Unified corporate academy supporting Conventional Banking operations alongside specialized PBZ Islamic Banking (Amana) certified by the Shariah Advisory Board with custom Islamic contracts.</a:t>
            </a:r>
          </a:p>
        </p:txBody>
      </p:sp>
      <p:sp>
        <p:nvSpPr>
          <p:cNvPr id="13" name="Rounded Rectangle 12"/>
          <p:cNvSpPr/>
          <p:nvPr/>
        </p:nvSpPr>
        <p:spPr>
          <a:xfrm>
            <a:off x="7955280" y="1371600"/>
            <a:ext cx="3429000" cy="3657600"/>
          </a:xfrm>
          <a:prstGeom prst="roundRect">
            <a:avLst/>
          </a:prstGeom>
          <a:solidFill>
            <a:srgbClr val="F0F9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554480"/>
            <a:ext cx="3063240" cy="3291840"/>
          </a:xfrm>
          <a:prstGeom prst="rect">
            <a:avLst/>
          </a:prstGeom>
          <a:noFill/>
        </p:spPr>
        <p:txBody>
          <a:bodyPr wrap="square">
            <a:spAutoFit/>
          </a:bodyPr>
          <a:lstStyle/>
          <a:p>
            <a:pPr>
              <a:defRPr sz="1400" b="1">
                <a:solidFill>
                  <a:srgbClr val="0088CC"/>
                </a:solidFill>
              </a:defRPr>
            </a:pPr>
            <a:r>
              <a:t>Branch Microlearning &amp; Offline PWA</a:t>
            </a:r>
          </a:p>
          <a:p>
            <a:br/>
            <a:pPr>
              <a:defRPr sz="1050">
                <a:solidFill>
                  <a:srgbClr val="334155"/>
                </a:solidFill>
              </a:defRPr>
            </a:pPr>
            <a:r>
              <a:t>Interactive 5–12 minute scenario modules that staff complete between customer queues. Client-side caching ensures seamless offline training during temporary island connectivity drops.</a:t>
            </a:r>
          </a:p>
        </p:txBody>
      </p:sp>
      <p:sp>
        <p:nvSpPr>
          <p:cNvPr id="15" name="Rounded Rectangle 14"/>
          <p:cNvSpPr/>
          <p:nvPr/>
        </p:nvSpPr>
        <p:spPr>
          <a:xfrm>
            <a:off x="731520" y="5303520"/>
            <a:ext cx="10652760" cy="1005840"/>
          </a:xfrm>
          <a:prstGeom prst="roundRect">
            <a:avLst/>
          </a:prstGeom>
          <a:solidFill>
            <a:srgbClr val="006837"/>
          </a:solidFill>
          <a:ln>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394960"/>
            <a:ext cx="10287000" cy="822960"/>
          </a:xfrm>
          <a:prstGeom prst="rect">
            <a:avLst/>
          </a:prstGeom>
          <a:noFill/>
        </p:spPr>
        <p:txBody>
          <a:bodyPr wrap="square">
            <a:spAutoFit/>
          </a:bodyPr>
          <a:lstStyle/>
          <a:p>
            <a:pPr>
              <a:defRPr sz="1200" b="1">
                <a:solidFill>
                  <a:srgbClr val="FFFFFF"/>
                </a:solidFill>
              </a:defRPr>
            </a:pPr>
            <a:r>
              <a:t>Strategic Impact: Zero Teller Disruption • Audit-Proof Regulatory Record • Sovereign Tanzanian Data Residency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Key Modules &amp; Capabilities: Highlighted Module Showcase Studio</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234440"/>
            <a:ext cx="10652760" cy="5120640"/>
          </a:xfrm>
          <a:prstGeom prst="roundRect">
            <a:avLst/>
          </a:prstGeom>
          <a:solidFill>
            <a:srgbClr val="0B1F14"/>
          </a:solidFill>
          <a:ln w="254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663440" y="1371600"/>
            <a:ext cx="2834640" cy="502920"/>
          </a:xfrm>
          <a:prstGeom prst="roundRect">
            <a:avLst/>
          </a:prstGeom>
          <a:solidFill>
            <a:srgbClr val="16261E"/>
          </a:solidFill>
          <a:ln w="127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tIns="73152"/>
          <a:lstStyle/>
          <a:p>
            <a:pPr algn="ctr">
              <a:defRPr sz="1300" b="1">
                <a:solidFill>
                  <a:srgbClr val="FFFFFF"/>
                </a:solidFill>
              </a:defRPr>
            </a:pPr>
            <a:r>
              <a:t>✨  Highlighted Module</a:t>
            </a:r>
          </a:p>
        </p:txBody>
      </p:sp>
      <p:sp>
        <p:nvSpPr>
          <p:cNvPr id="11" name="Rounded Rectangle 10"/>
          <p:cNvSpPr/>
          <p:nvPr/>
        </p:nvSpPr>
        <p:spPr>
          <a:xfrm>
            <a:off x="1005840" y="2057400"/>
            <a:ext cx="2377440" cy="868680"/>
          </a:xfrm>
          <a:prstGeom prst="roundRect">
            <a:avLst/>
          </a:prstGeom>
          <a:solidFill>
            <a:srgbClr val="FFFF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115568" y="2194560"/>
            <a:ext cx="594360" cy="594360"/>
          </a:xfrm>
          <a:prstGeom prst="roundRect">
            <a:avLst/>
          </a:prstGeom>
          <a:solidFill>
            <a:srgbClr val="005B8E"/>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13" name="TextBox 12"/>
          <p:cNvSpPr txBox="1"/>
          <p:nvPr/>
        </p:nvSpPr>
        <p:spPr>
          <a:xfrm>
            <a:off x="1783080" y="2167128"/>
            <a:ext cx="1508760" cy="658368"/>
          </a:xfrm>
          <a:prstGeom prst="rect">
            <a:avLst/>
          </a:prstGeom>
          <a:noFill/>
        </p:spPr>
        <p:txBody>
          <a:bodyPr wrap="square">
            <a:spAutoFit/>
          </a:bodyPr>
          <a:lstStyle/>
          <a:p>
            <a:pPr>
              <a:defRPr sz="1050" b="1">
                <a:solidFill>
                  <a:srgbClr val="0F172A"/>
                </a:solidFill>
              </a:defRPr>
            </a:pPr>
            <a:r>
              <a:t>Quiz in Lessons</a:t>
            </a:r>
          </a:p>
        </p:txBody>
      </p:sp>
      <p:sp>
        <p:nvSpPr>
          <p:cNvPr id="14" name="Rounded Rectangle 13"/>
          <p:cNvSpPr/>
          <p:nvPr/>
        </p:nvSpPr>
        <p:spPr>
          <a:xfrm>
            <a:off x="3566160" y="2057400"/>
            <a:ext cx="2377440" cy="86868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675888" y="2194560"/>
            <a:ext cx="594360" cy="59436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16" name="TextBox 15"/>
          <p:cNvSpPr txBox="1"/>
          <p:nvPr/>
        </p:nvSpPr>
        <p:spPr>
          <a:xfrm>
            <a:off x="4343400" y="2167128"/>
            <a:ext cx="1508760" cy="658368"/>
          </a:xfrm>
          <a:prstGeom prst="rect">
            <a:avLst/>
          </a:prstGeom>
          <a:noFill/>
        </p:spPr>
        <p:txBody>
          <a:bodyPr wrap="square">
            <a:spAutoFit/>
          </a:bodyPr>
          <a:lstStyle/>
          <a:p>
            <a:pPr>
              <a:defRPr sz="1050" b="1">
                <a:solidFill>
                  <a:srgbClr val="0F172A"/>
                </a:solidFill>
              </a:defRPr>
            </a:pPr>
            <a:r>
              <a:t>Assignment in Lessons</a:t>
            </a:r>
          </a:p>
        </p:txBody>
      </p:sp>
      <p:sp>
        <p:nvSpPr>
          <p:cNvPr id="17" name="Rounded Rectangle 16"/>
          <p:cNvSpPr/>
          <p:nvPr/>
        </p:nvSpPr>
        <p:spPr>
          <a:xfrm>
            <a:off x="6126479" y="2057400"/>
            <a:ext cx="2377440" cy="868680"/>
          </a:xfrm>
          <a:prstGeom prst="roundRect">
            <a:avLst/>
          </a:prstGeom>
          <a:solidFill>
            <a:srgbClr val="FFFFFF"/>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36207" y="2194560"/>
            <a:ext cx="594360" cy="594360"/>
          </a:xfrm>
          <a:prstGeom prst="roundRect">
            <a:avLst/>
          </a:prstGeom>
          <a:solidFill>
            <a:srgbClr val="006837"/>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19" name="TextBox 18"/>
          <p:cNvSpPr txBox="1"/>
          <p:nvPr/>
        </p:nvSpPr>
        <p:spPr>
          <a:xfrm>
            <a:off x="6903719" y="2167128"/>
            <a:ext cx="1508760" cy="658368"/>
          </a:xfrm>
          <a:prstGeom prst="rect">
            <a:avLst/>
          </a:prstGeom>
          <a:noFill/>
        </p:spPr>
        <p:txBody>
          <a:bodyPr wrap="square">
            <a:spAutoFit/>
          </a:bodyPr>
          <a:lstStyle/>
          <a:p>
            <a:pPr>
              <a:defRPr sz="1050" b="1">
                <a:solidFill>
                  <a:srgbClr val="0F172A"/>
                </a:solidFill>
              </a:defRPr>
            </a:pPr>
            <a:r>
              <a:t>Separate Instructor Panel</a:t>
            </a:r>
          </a:p>
        </p:txBody>
      </p:sp>
      <p:sp>
        <p:nvSpPr>
          <p:cNvPr id="20" name="Rounded Rectangle 19"/>
          <p:cNvSpPr/>
          <p:nvPr/>
        </p:nvSpPr>
        <p:spPr>
          <a:xfrm>
            <a:off x="8686799" y="2057400"/>
            <a:ext cx="2377440" cy="868680"/>
          </a:xfrm>
          <a:prstGeom prst="roundRect">
            <a:avLst/>
          </a:prstGeom>
          <a:solidFill>
            <a:srgbClr val="FFFFFF"/>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796527" y="2194560"/>
            <a:ext cx="594360" cy="594360"/>
          </a:xfrm>
          <a:prstGeom prst="roundRect">
            <a:avLst/>
          </a:prstGeom>
          <a:solidFill>
            <a:srgbClr val="006837"/>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22" name="TextBox 21"/>
          <p:cNvSpPr txBox="1"/>
          <p:nvPr/>
        </p:nvSpPr>
        <p:spPr>
          <a:xfrm>
            <a:off x="9464039" y="2167128"/>
            <a:ext cx="1508760" cy="658368"/>
          </a:xfrm>
          <a:prstGeom prst="rect">
            <a:avLst/>
          </a:prstGeom>
          <a:noFill/>
        </p:spPr>
        <p:txBody>
          <a:bodyPr wrap="square">
            <a:spAutoFit/>
          </a:bodyPr>
          <a:lstStyle/>
          <a:p>
            <a:pPr>
              <a:defRPr sz="1050" b="1">
                <a:solidFill>
                  <a:srgbClr val="0F172A"/>
                </a:solidFill>
              </a:defRPr>
            </a:pPr>
            <a:r>
              <a:t>Instructor Payout</a:t>
            </a:r>
          </a:p>
        </p:txBody>
      </p:sp>
      <p:sp>
        <p:nvSpPr>
          <p:cNvPr id="23" name="Rounded Rectangle 22"/>
          <p:cNvSpPr/>
          <p:nvPr/>
        </p:nvSpPr>
        <p:spPr>
          <a:xfrm>
            <a:off x="1005840" y="3063240"/>
            <a:ext cx="2377440" cy="86868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115568" y="3200400"/>
            <a:ext cx="594360" cy="59436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25" name="TextBox 24"/>
          <p:cNvSpPr txBox="1"/>
          <p:nvPr/>
        </p:nvSpPr>
        <p:spPr>
          <a:xfrm>
            <a:off x="1783080" y="3172968"/>
            <a:ext cx="1508760" cy="658368"/>
          </a:xfrm>
          <a:prstGeom prst="rect">
            <a:avLst/>
          </a:prstGeom>
          <a:noFill/>
        </p:spPr>
        <p:txBody>
          <a:bodyPr wrap="square">
            <a:spAutoFit/>
          </a:bodyPr>
          <a:lstStyle/>
          <a:p>
            <a:pPr>
              <a:defRPr sz="1050" b="1">
                <a:solidFill>
                  <a:srgbClr val="0F172A"/>
                </a:solidFill>
              </a:defRPr>
            </a:pPr>
            <a:r>
              <a:t>Subscription Module</a:t>
            </a:r>
          </a:p>
        </p:txBody>
      </p:sp>
      <p:sp>
        <p:nvSpPr>
          <p:cNvPr id="26" name="Rounded Rectangle 25"/>
          <p:cNvSpPr/>
          <p:nvPr/>
        </p:nvSpPr>
        <p:spPr>
          <a:xfrm>
            <a:off x="3566160" y="3063240"/>
            <a:ext cx="2377440" cy="868680"/>
          </a:xfrm>
          <a:prstGeom prst="roundRect">
            <a:avLst/>
          </a:prstGeom>
          <a:solidFill>
            <a:srgbClr val="FFFF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675888" y="3200400"/>
            <a:ext cx="594360" cy="594360"/>
          </a:xfrm>
          <a:prstGeom prst="round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28" name="TextBox 27"/>
          <p:cNvSpPr txBox="1"/>
          <p:nvPr/>
        </p:nvSpPr>
        <p:spPr>
          <a:xfrm>
            <a:off x="4343400" y="3172968"/>
            <a:ext cx="1508760" cy="658368"/>
          </a:xfrm>
          <a:prstGeom prst="rect">
            <a:avLst/>
          </a:prstGeom>
          <a:noFill/>
        </p:spPr>
        <p:txBody>
          <a:bodyPr wrap="square">
            <a:spAutoFit/>
          </a:bodyPr>
          <a:lstStyle/>
          <a:p>
            <a:pPr>
              <a:defRPr sz="1050" b="1">
                <a:solidFill>
                  <a:srgbClr val="0F172A"/>
                </a:solidFill>
              </a:defRPr>
            </a:pPr>
            <a:r>
              <a:t>Certificate Verification</a:t>
            </a:r>
          </a:p>
        </p:txBody>
      </p:sp>
      <p:sp>
        <p:nvSpPr>
          <p:cNvPr id="29" name="Rounded Rectangle 28"/>
          <p:cNvSpPr/>
          <p:nvPr/>
        </p:nvSpPr>
        <p:spPr>
          <a:xfrm>
            <a:off x="6126479" y="3063240"/>
            <a:ext cx="2377440" cy="868680"/>
          </a:xfrm>
          <a:prstGeom prst="roundRect">
            <a:avLst/>
          </a:prstGeom>
          <a:solidFill>
            <a:srgbClr val="FFFF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236207" y="3200400"/>
            <a:ext cx="594360" cy="594360"/>
          </a:xfrm>
          <a:prstGeom prst="roundRect">
            <a:avLst/>
          </a:prstGeom>
          <a:solidFill>
            <a:srgbClr val="005B8E"/>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31" name="TextBox 30"/>
          <p:cNvSpPr txBox="1"/>
          <p:nvPr/>
        </p:nvSpPr>
        <p:spPr>
          <a:xfrm>
            <a:off x="6903719" y="3172968"/>
            <a:ext cx="1508760" cy="658368"/>
          </a:xfrm>
          <a:prstGeom prst="rect">
            <a:avLst/>
          </a:prstGeom>
          <a:noFill/>
        </p:spPr>
        <p:txBody>
          <a:bodyPr wrap="square">
            <a:spAutoFit/>
          </a:bodyPr>
          <a:lstStyle/>
          <a:p>
            <a:pPr>
              <a:defRPr sz="1050" b="1">
                <a:solidFill>
                  <a:srgbClr val="0F172A"/>
                </a:solidFill>
              </a:defRPr>
            </a:pPr>
            <a:r>
              <a:t>Multi Currency</a:t>
            </a:r>
          </a:p>
        </p:txBody>
      </p:sp>
      <p:sp>
        <p:nvSpPr>
          <p:cNvPr id="32" name="Rounded Rectangle 31"/>
          <p:cNvSpPr/>
          <p:nvPr/>
        </p:nvSpPr>
        <p:spPr>
          <a:xfrm>
            <a:off x="8686799" y="3063240"/>
            <a:ext cx="2377440" cy="868680"/>
          </a:xfrm>
          <a:prstGeom prst="roundRect">
            <a:avLst/>
          </a:prstGeom>
          <a:solidFill>
            <a:srgbClr val="FFFFFF"/>
          </a:solidFill>
          <a:ln w="1905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8796527" y="3200400"/>
            <a:ext cx="594360" cy="594360"/>
          </a:xfrm>
          <a:prstGeom prst="round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34" name="TextBox 33"/>
          <p:cNvSpPr txBox="1"/>
          <p:nvPr/>
        </p:nvSpPr>
        <p:spPr>
          <a:xfrm>
            <a:off x="9464039" y="3172968"/>
            <a:ext cx="1508760" cy="658368"/>
          </a:xfrm>
          <a:prstGeom prst="rect">
            <a:avLst/>
          </a:prstGeom>
          <a:noFill/>
        </p:spPr>
        <p:txBody>
          <a:bodyPr wrap="square">
            <a:spAutoFit/>
          </a:bodyPr>
          <a:lstStyle/>
          <a:p>
            <a:pPr>
              <a:defRPr sz="1050" b="1">
                <a:solidFill>
                  <a:srgbClr val="0F172A"/>
                </a:solidFill>
              </a:defRPr>
            </a:pPr>
            <a:r>
              <a:t>Multi Language</a:t>
            </a:r>
          </a:p>
        </p:txBody>
      </p:sp>
      <p:sp>
        <p:nvSpPr>
          <p:cNvPr id="35" name="Rounded Rectangle 34"/>
          <p:cNvSpPr/>
          <p:nvPr/>
        </p:nvSpPr>
        <p:spPr>
          <a:xfrm>
            <a:off x="1005840" y="4069080"/>
            <a:ext cx="2377440" cy="86868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1115568" y="4206240"/>
            <a:ext cx="594360" cy="59436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37" name="TextBox 36"/>
          <p:cNvSpPr txBox="1"/>
          <p:nvPr/>
        </p:nvSpPr>
        <p:spPr>
          <a:xfrm>
            <a:off x="1783080" y="4178808"/>
            <a:ext cx="1508760" cy="658368"/>
          </a:xfrm>
          <a:prstGeom prst="rect">
            <a:avLst/>
          </a:prstGeom>
          <a:noFill/>
        </p:spPr>
        <p:txBody>
          <a:bodyPr wrap="square">
            <a:spAutoFit/>
          </a:bodyPr>
          <a:lstStyle/>
          <a:p>
            <a:pPr>
              <a:defRPr sz="1050" b="1">
                <a:solidFill>
                  <a:srgbClr val="0F172A"/>
                </a:solidFill>
              </a:defRPr>
            </a:pPr>
            <a:r>
              <a:t>AI Powered Tutor</a:t>
            </a:r>
          </a:p>
        </p:txBody>
      </p:sp>
      <p:sp>
        <p:nvSpPr>
          <p:cNvPr id="38" name="Rounded Rectangle 37"/>
          <p:cNvSpPr/>
          <p:nvPr/>
        </p:nvSpPr>
        <p:spPr>
          <a:xfrm>
            <a:off x="3566160" y="4069080"/>
            <a:ext cx="2377440" cy="86868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3675888" y="4206240"/>
            <a:ext cx="594360" cy="594360"/>
          </a:xfrm>
          <a:prstGeom prst="round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40" name="TextBox 39"/>
          <p:cNvSpPr txBox="1"/>
          <p:nvPr/>
        </p:nvSpPr>
        <p:spPr>
          <a:xfrm>
            <a:off x="4343400" y="4178808"/>
            <a:ext cx="1508760" cy="658368"/>
          </a:xfrm>
          <a:prstGeom prst="rect">
            <a:avLst/>
          </a:prstGeom>
          <a:noFill/>
        </p:spPr>
        <p:txBody>
          <a:bodyPr wrap="square">
            <a:spAutoFit/>
          </a:bodyPr>
          <a:lstStyle/>
          <a:p>
            <a:pPr>
              <a:defRPr sz="1050" b="1">
                <a:solidFill>
                  <a:srgbClr val="0F172A"/>
                </a:solidFill>
              </a:defRPr>
            </a:pPr>
            <a:r>
              <a:t>Event Management</a:t>
            </a:r>
          </a:p>
        </p:txBody>
      </p:sp>
      <p:sp>
        <p:nvSpPr>
          <p:cNvPr id="41" name="Rounded Rectangle 40"/>
          <p:cNvSpPr/>
          <p:nvPr/>
        </p:nvSpPr>
        <p:spPr>
          <a:xfrm>
            <a:off x="6126479" y="4069080"/>
            <a:ext cx="2377440" cy="86868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236207" y="4206240"/>
            <a:ext cx="594360" cy="59436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43" name="TextBox 42"/>
          <p:cNvSpPr txBox="1"/>
          <p:nvPr/>
        </p:nvSpPr>
        <p:spPr>
          <a:xfrm>
            <a:off x="6903719" y="4178808"/>
            <a:ext cx="1508760" cy="658368"/>
          </a:xfrm>
          <a:prstGeom prst="rect">
            <a:avLst/>
          </a:prstGeom>
          <a:noFill/>
        </p:spPr>
        <p:txBody>
          <a:bodyPr wrap="square">
            <a:spAutoFit/>
          </a:bodyPr>
          <a:lstStyle/>
          <a:p>
            <a:pPr>
              <a:defRPr sz="1050" b="1">
                <a:solidFill>
                  <a:srgbClr val="0F172A"/>
                </a:solidFill>
              </a:defRPr>
            </a:pPr>
            <a:r>
              <a:t>Real-Time Chat</a:t>
            </a:r>
          </a:p>
        </p:txBody>
      </p:sp>
      <p:sp>
        <p:nvSpPr>
          <p:cNvPr id="44" name="Rounded Rectangle 43"/>
          <p:cNvSpPr/>
          <p:nvPr/>
        </p:nvSpPr>
        <p:spPr>
          <a:xfrm>
            <a:off x="8686799" y="4069080"/>
            <a:ext cx="2377440" cy="868680"/>
          </a:xfrm>
          <a:prstGeom prst="roundRect">
            <a:avLst/>
          </a:prstGeom>
          <a:solidFill>
            <a:srgbClr val="FFFF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796527" y="4206240"/>
            <a:ext cx="594360" cy="594360"/>
          </a:xfrm>
          <a:prstGeom prst="roundRect">
            <a:avLst/>
          </a:prstGeom>
          <a:solidFill>
            <a:srgbClr val="005B8E"/>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46" name="TextBox 45"/>
          <p:cNvSpPr txBox="1"/>
          <p:nvPr/>
        </p:nvSpPr>
        <p:spPr>
          <a:xfrm>
            <a:off x="9464039" y="4178808"/>
            <a:ext cx="1508760" cy="658368"/>
          </a:xfrm>
          <a:prstGeom prst="rect">
            <a:avLst/>
          </a:prstGeom>
          <a:noFill/>
        </p:spPr>
        <p:txBody>
          <a:bodyPr wrap="square">
            <a:spAutoFit/>
          </a:bodyPr>
          <a:lstStyle/>
          <a:p>
            <a:pPr>
              <a:defRPr sz="1050" b="1">
                <a:solidFill>
                  <a:srgbClr val="0F172A"/>
                </a:solidFill>
              </a:defRPr>
            </a:pPr>
            <a:r>
              <a:t>Course Bundle</a:t>
            </a:r>
          </a:p>
        </p:txBody>
      </p:sp>
      <p:sp>
        <p:nvSpPr>
          <p:cNvPr id="47" name="Rounded Rectangle 46"/>
          <p:cNvSpPr/>
          <p:nvPr/>
        </p:nvSpPr>
        <p:spPr>
          <a:xfrm>
            <a:off x="1005840" y="5074920"/>
            <a:ext cx="2377440" cy="868680"/>
          </a:xfrm>
          <a:prstGeom prst="roundRect">
            <a:avLst/>
          </a:prstGeom>
          <a:solidFill>
            <a:srgbClr val="FFFFFF"/>
          </a:solidFill>
          <a:ln w="19050">
            <a:solidFill>
              <a:srgbClr val="6D28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115568" y="5212080"/>
            <a:ext cx="594360" cy="594360"/>
          </a:xfrm>
          <a:prstGeom prst="round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49" name="TextBox 48"/>
          <p:cNvSpPr txBox="1"/>
          <p:nvPr/>
        </p:nvSpPr>
        <p:spPr>
          <a:xfrm>
            <a:off x="1783080" y="5184648"/>
            <a:ext cx="1508760" cy="658368"/>
          </a:xfrm>
          <a:prstGeom prst="rect">
            <a:avLst/>
          </a:prstGeom>
          <a:noFill/>
        </p:spPr>
        <p:txBody>
          <a:bodyPr wrap="square">
            <a:spAutoFit/>
          </a:bodyPr>
          <a:lstStyle/>
          <a:p>
            <a:pPr>
              <a:defRPr sz="1050" b="1">
                <a:solidFill>
                  <a:srgbClr val="0F172A"/>
                </a:solidFill>
              </a:defRPr>
            </a:pPr>
            <a:r>
              <a:t>Advanced Video Player</a:t>
            </a:r>
          </a:p>
        </p:txBody>
      </p:sp>
      <p:sp>
        <p:nvSpPr>
          <p:cNvPr id="50" name="Rounded Rectangle 49"/>
          <p:cNvSpPr/>
          <p:nvPr/>
        </p:nvSpPr>
        <p:spPr>
          <a:xfrm>
            <a:off x="3566160" y="5074920"/>
            <a:ext cx="2377440" cy="868680"/>
          </a:xfrm>
          <a:prstGeom prst="roundRect">
            <a:avLst/>
          </a:prstGeom>
          <a:solidFill>
            <a:srgbClr val="FFFF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3675888" y="5212080"/>
            <a:ext cx="594360" cy="594360"/>
          </a:xfrm>
          <a:prstGeom prst="round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52" name="TextBox 51"/>
          <p:cNvSpPr txBox="1"/>
          <p:nvPr/>
        </p:nvSpPr>
        <p:spPr>
          <a:xfrm>
            <a:off x="4343400" y="5184648"/>
            <a:ext cx="1508760" cy="658368"/>
          </a:xfrm>
          <a:prstGeom prst="rect">
            <a:avLst/>
          </a:prstGeom>
          <a:noFill/>
        </p:spPr>
        <p:txBody>
          <a:bodyPr wrap="square">
            <a:spAutoFit/>
          </a:bodyPr>
          <a:lstStyle/>
          <a:p>
            <a:pPr>
              <a:defRPr sz="1050" b="1">
                <a:solidFill>
                  <a:srgbClr val="0F172A"/>
                </a:solidFill>
              </a:defRPr>
            </a:pPr>
            <a:r>
              <a:t>Student &amp; Instructor App</a:t>
            </a:r>
          </a:p>
        </p:txBody>
      </p:sp>
      <p:sp>
        <p:nvSpPr>
          <p:cNvPr id="53" name="Rounded Rectangle 52"/>
          <p:cNvSpPr/>
          <p:nvPr/>
        </p:nvSpPr>
        <p:spPr>
          <a:xfrm>
            <a:off x="6126479" y="5074920"/>
            <a:ext cx="2377440" cy="86868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236207" y="5212080"/>
            <a:ext cx="594360" cy="594360"/>
          </a:xfrm>
          <a:prstGeom prst="round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55" name="TextBox 54"/>
          <p:cNvSpPr txBox="1"/>
          <p:nvPr/>
        </p:nvSpPr>
        <p:spPr>
          <a:xfrm>
            <a:off x="6903719" y="5184648"/>
            <a:ext cx="1508760" cy="658368"/>
          </a:xfrm>
          <a:prstGeom prst="rect">
            <a:avLst/>
          </a:prstGeom>
          <a:noFill/>
        </p:spPr>
        <p:txBody>
          <a:bodyPr wrap="square">
            <a:spAutoFit/>
          </a:bodyPr>
          <a:lstStyle/>
          <a:p>
            <a:pPr>
              <a:defRPr sz="1050" b="1">
                <a:solidFill>
                  <a:srgbClr val="0F172A"/>
                </a:solidFill>
              </a:defRPr>
            </a:pPr>
            <a:r>
              <a:t>10+ Payment Gateways</a:t>
            </a:r>
          </a:p>
        </p:txBody>
      </p:sp>
      <p:sp>
        <p:nvSpPr>
          <p:cNvPr id="56" name="Rounded Rectangle 55"/>
          <p:cNvSpPr/>
          <p:nvPr/>
        </p:nvSpPr>
        <p:spPr>
          <a:xfrm>
            <a:off x="8686799" y="5074920"/>
            <a:ext cx="2377440" cy="86868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8796527" y="5212080"/>
            <a:ext cx="594360" cy="594360"/>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tIns="109728"/>
          <a:lstStyle/>
          <a:p>
            <a:pPr algn="ctr">
              <a:defRPr sz="1300" b="1">
                <a:solidFill>
                  <a:srgbClr val="FFFFFF"/>
                </a:solidFill>
              </a:defRPr>
            </a:pPr>
            <a:r>
              <a:t>★</a:t>
            </a:r>
          </a:p>
        </p:txBody>
      </p:sp>
      <p:sp>
        <p:nvSpPr>
          <p:cNvPr id="58" name="TextBox 57"/>
          <p:cNvSpPr txBox="1"/>
          <p:nvPr/>
        </p:nvSpPr>
        <p:spPr>
          <a:xfrm>
            <a:off x="9464039" y="5184648"/>
            <a:ext cx="1508760" cy="658368"/>
          </a:xfrm>
          <a:prstGeom prst="rect">
            <a:avLst/>
          </a:prstGeom>
          <a:noFill/>
        </p:spPr>
        <p:txBody>
          <a:bodyPr wrap="square">
            <a:spAutoFit/>
          </a:bodyPr>
          <a:lstStyle/>
          <a:p>
            <a:pPr>
              <a:defRPr sz="1050" b="1">
                <a:solidFill>
                  <a:srgbClr val="0F172A"/>
                </a:solidFill>
              </a:defRPr>
            </a:pPr>
            <a:r>
              <a:t>Live Classes (Zoom/Meet)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Key Modules &amp; Capabilities: Core Architecture &amp; Engagement (1–9 of 17)</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280160"/>
            <a:ext cx="3429000" cy="1508760"/>
          </a:xfrm>
          <a:prstGeom prst="roundRect">
            <a:avLst/>
          </a:prstGeom>
          <a:solidFill>
            <a:srgbClr val="FFFFFF"/>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389888"/>
            <a:ext cx="3154680" cy="1280160"/>
          </a:xfrm>
          <a:prstGeom prst="rect">
            <a:avLst/>
          </a:prstGeom>
          <a:noFill/>
        </p:spPr>
        <p:txBody>
          <a:bodyPr wrap="square">
            <a:spAutoFit/>
          </a:bodyPr>
          <a:lstStyle/>
          <a:p>
            <a:pPr>
              <a:defRPr sz="1150" b="1">
                <a:solidFill>
                  <a:srgbClr val="006837"/>
                </a:solidFill>
              </a:defRPr>
            </a:pPr>
            <a:r>
              <a:t>1. Drag &amp; Drop Certificate Studio</a:t>
            </a:r>
          </a:p>
          <a:p>
            <a:pPr>
              <a:defRPr sz="919">
                <a:solidFill>
                  <a:srgbClr val="334155"/>
                </a:solidFill>
              </a:defRPr>
            </a:pPr>
            <a:r>
              <a:t>Visual Drag &amp; Drop Studio with 6 pre-built templates, dynamic student/course tags, and tamper-proof QR code verification.</a:t>
            </a:r>
          </a:p>
        </p:txBody>
      </p:sp>
      <p:sp>
        <p:nvSpPr>
          <p:cNvPr id="11" name="Rounded Rectangle 10"/>
          <p:cNvSpPr/>
          <p:nvPr/>
        </p:nvSpPr>
        <p:spPr>
          <a:xfrm>
            <a:off x="4343400" y="1280160"/>
            <a:ext cx="3429000" cy="150876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389888"/>
            <a:ext cx="3154680" cy="1280160"/>
          </a:xfrm>
          <a:prstGeom prst="rect">
            <a:avLst/>
          </a:prstGeom>
          <a:noFill/>
        </p:spPr>
        <p:txBody>
          <a:bodyPr wrap="square">
            <a:spAutoFit/>
          </a:bodyPr>
          <a:lstStyle/>
          <a:p>
            <a:pPr>
              <a:defRPr sz="1150" b="1">
                <a:solidFill>
                  <a:srgbClr val="E11D48"/>
                </a:solidFill>
              </a:defRPr>
            </a:pPr>
            <a:r>
              <a:t>2. Automated Live Classes</a:t>
            </a:r>
          </a:p>
          <a:p>
            <a:pPr>
              <a:defRPr sz="919">
                <a:solidFill>
                  <a:srgbClr val="334155"/>
                </a:solidFill>
              </a:defRPr>
            </a:pPr>
            <a:r>
              <a:t>Seamless Zoom &amp; Google Meet integration with direct meeting generation, live countdown timers, and session recording playback.</a:t>
            </a:r>
          </a:p>
        </p:txBody>
      </p:sp>
      <p:sp>
        <p:nvSpPr>
          <p:cNvPr id="13" name="Rounded Rectangle 12"/>
          <p:cNvSpPr/>
          <p:nvPr/>
        </p:nvSpPr>
        <p:spPr>
          <a:xfrm>
            <a:off x="7955280" y="1280160"/>
            <a:ext cx="3429000" cy="1508760"/>
          </a:xfrm>
          <a:prstGeom prst="roundRect">
            <a:avLst/>
          </a:prstGeom>
          <a:solidFill>
            <a:srgbClr val="FFFF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389888"/>
            <a:ext cx="3154680" cy="1280160"/>
          </a:xfrm>
          <a:prstGeom prst="rect">
            <a:avLst/>
          </a:prstGeom>
          <a:noFill/>
        </p:spPr>
        <p:txBody>
          <a:bodyPr wrap="square">
            <a:spAutoFit/>
          </a:bodyPr>
          <a:lstStyle/>
          <a:p>
            <a:pPr>
              <a:defRPr sz="1150" b="1">
                <a:solidFill>
                  <a:srgbClr val="005B8E"/>
                </a:solidFill>
              </a:defRPr>
            </a:pPr>
            <a:r>
              <a:t>3. Granular Role &amp; RBAC System</a:t>
            </a:r>
          </a:p>
          <a:p>
            <a:pPr>
              <a:defRPr sz="919">
                <a:solidFill>
                  <a:srgbClr val="334155"/>
                </a:solidFill>
              </a:defRPr>
            </a:pPr>
            <a:r>
              <a:t>Multi-role management (Staff, Managers, Support, Super Admins) with module-level permissions and admin lockout protection.</a:t>
            </a:r>
          </a:p>
        </p:txBody>
      </p:sp>
      <p:sp>
        <p:nvSpPr>
          <p:cNvPr id="15" name="Rounded Rectangle 14"/>
          <p:cNvSpPr/>
          <p:nvPr/>
        </p:nvSpPr>
        <p:spPr>
          <a:xfrm>
            <a:off x="731520" y="2926080"/>
            <a:ext cx="3429000" cy="150876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035808"/>
            <a:ext cx="3154680" cy="1280160"/>
          </a:xfrm>
          <a:prstGeom prst="rect">
            <a:avLst/>
          </a:prstGeom>
          <a:noFill/>
        </p:spPr>
        <p:txBody>
          <a:bodyPr wrap="square">
            <a:spAutoFit/>
          </a:bodyPr>
          <a:lstStyle/>
          <a:p>
            <a:pPr>
              <a:defRPr sz="1150" b="1">
                <a:solidFill>
                  <a:srgbClr val="B45309"/>
                </a:solidFill>
              </a:defRPr>
            </a:pPr>
            <a:r>
              <a:t>4. Subscription &amp; Memberships</a:t>
            </a:r>
          </a:p>
          <a:p>
            <a:pPr>
              <a:defRPr sz="919">
                <a:solidFill>
                  <a:srgbClr val="334155"/>
                </a:solidFill>
              </a:defRPr>
            </a:pPr>
            <a:r>
              <a:t>Recurring monthly/yearly plans, 1-tap course enrollment, automated instructor splits, and in-app checkout on Flutter apps.</a:t>
            </a:r>
          </a:p>
        </p:txBody>
      </p:sp>
      <p:sp>
        <p:nvSpPr>
          <p:cNvPr id="17" name="Rounded Rectangle 16"/>
          <p:cNvSpPr/>
          <p:nvPr/>
        </p:nvSpPr>
        <p:spPr>
          <a:xfrm>
            <a:off x="4343400" y="2926080"/>
            <a:ext cx="3429000" cy="1508760"/>
          </a:xfrm>
          <a:prstGeom prst="roundRect">
            <a:avLst/>
          </a:prstGeom>
          <a:solidFill>
            <a:srgbClr val="FFFFFF"/>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035808"/>
            <a:ext cx="3154680" cy="1280160"/>
          </a:xfrm>
          <a:prstGeom prst="rect">
            <a:avLst/>
          </a:prstGeom>
          <a:noFill/>
        </p:spPr>
        <p:txBody>
          <a:bodyPr wrap="square">
            <a:spAutoFit/>
          </a:bodyPr>
          <a:lstStyle/>
          <a:p>
            <a:pPr>
              <a:defRPr sz="1150" b="1">
                <a:solidFill>
                  <a:srgbClr val="006837"/>
                </a:solidFill>
              </a:defRPr>
            </a:pPr>
            <a:r>
              <a:t>5. Global Tax &amp; VAT Billing</a:t>
            </a:r>
          </a:p>
          <a:p>
            <a:pPr>
              <a:defRPr sz="919">
                <a:solidFill>
                  <a:srgbClr val="334155"/>
                </a:solidFill>
              </a:defRPr>
            </a:pPr>
            <a:r>
              <a:t>Multi-country tax rates (VAT/GST), inclusive/exclusive price displays, real-time checkout math, and itemized PDF invoices.</a:t>
            </a:r>
          </a:p>
        </p:txBody>
      </p:sp>
      <p:sp>
        <p:nvSpPr>
          <p:cNvPr id="19" name="Rounded Rectangle 18"/>
          <p:cNvSpPr/>
          <p:nvPr/>
        </p:nvSpPr>
        <p:spPr>
          <a:xfrm>
            <a:off x="7955280" y="2926080"/>
            <a:ext cx="3429000" cy="1508760"/>
          </a:xfrm>
          <a:prstGeom prst="roundRect">
            <a:avLst/>
          </a:prstGeom>
          <a:solidFill>
            <a:srgbClr val="FFFF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3035808"/>
            <a:ext cx="3154680" cy="1280160"/>
          </a:xfrm>
          <a:prstGeom prst="rect">
            <a:avLst/>
          </a:prstGeom>
          <a:noFill/>
        </p:spPr>
        <p:txBody>
          <a:bodyPr wrap="square">
            <a:spAutoFit/>
          </a:bodyPr>
          <a:lstStyle/>
          <a:p>
            <a:pPr>
              <a:defRPr sz="1150" b="1">
                <a:solidFill>
                  <a:srgbClr val="0088CC"/>
                </a:solidFill>
              </a:defRPr>
            </a:pPr>
            <a:r>
              <a:t>6. Database &amp; Backup Manager</a:t>
            </a:r>
          </a:p>
          <a:p>
            <a:pPr>
              <a:defRPr sz="919">
                <a:solidFill>
                  <a:srgbClr val="334155"/>
                </a:solidFill>
              </a:defRPr>
            </a:pPr>
            <a:r>
              <a:t>One-click instant database and application file backups, secure download from admin panel, and automated storage cleanup.</a:t>
            </a:r>
          </a:p>
        </p:txBody>
      </p:sp>
      <p:sp>
        <p:nvSpPr>
          <p:cNvPr id="21" name="Rounded Rectangle 20"/>
          <p:cNvSpPr/>
          <p:nvPr/>
        </p:nvSpPr>
        <p:spPr>
          <a:xfrm>
            <a:off x="731520" y="4572000"/>
            <a:ext cx="3429000" cy="1508760"/>
          </a:xfrm>
          <a:prstGeom prst="roundRect">
            <a:avLst/>
          </a:prstGeom>
          <a:solidFill>
            <a:srgbClr val="FFFF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681728"/>
            <a:ext cx="3154680" cy="1280160"/>
          </a:xfrm>
          <a:prstGeom prst="rect">
            <a:avLst/>
          </a:prstGeom>
          <a:noFill/>
        </p:spPr>
        <p:txBody>
          <a:bodyPr wrap="square">
            <a:spAutoFit/>
          </a:bodyPr>
          <a:lstStyle/>
          <a:p>
            <a:pPr>
              <a:defRPr sz="1150" b="1">
                <a:solidFill>
                  <a:srgbClr val="005B8E"/>
                </a:solidFill>
              </a:defRPr>
            </a:pPr>
            <a:r>
              <a:t>7. Dedicated Theme Manager</a:t>
            </a:r>
          </a:p>
          <a:p>
            <a:pPr>
              <a:defRPr sz="919">
                <a:solidFill>
                  <a:srgbClr val="334155"/>
                </a:solidFill>
              </a:defRPr>
            </a:pPr>
            <a:r>
              <a:t>Switch active themes, inject custom CSS/JS scripts and analytics tags (GA, Pixel) directly from the admin GUI without coding.</a:t>
            </a:r>
          </a:p>
        </p:txBody>
      </p:sp>
      <p:sp>
        <p:nvSpPr>
          <p:cNvPr id="23" name="Rounded Rectangle 22"/>
          <p:cNvSpPr/>
          <p:nvPr/>
        </p:nvSpPr>
        <p:spPr>
          <a:xfrm>
            <a:off x="4343400" y="4572000"/>
            <a:ext cx="3429000" cy="1508760"/>
          </a:xfrm>
          <a:prstGeom prst="roundRect">
            <a:avLst/>
          </a:prstGeom>
          <a:solidFill>
            <a:srgbClr val="FFFFFF"/>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681728"/>
            <a:ext cx="3154680" cy="1280160"/>
          </a:xfrm>
          <a:prstGeom prst="rect">
            <a:avLst/>
          </a:prstGeom>
          <a:noFill/>
        </p:spPr>
        <p:txBody>
          <a:bodyPr wrap="square">
            <a:spAutoFit/>
          </a:bodyPr>
          <a:lstStyle/>
          <a:p>
            <a:pPr>
              <a:defRPr sz="1150" b="1">
                <a:solidFill>
                  <a:srgbClr val="006837"/>
                </a:solidFill>
              </a:defRPr>
            </a:pPr>
            <a:r>
              <a:t>8. High-Performance Translation</a:t>
            </a:r>
          </a:p>
          <a:p>
            <a:pPr>
              <a:defRPr sz="919">
                <a:solidFill>
                  <a:srgbClr val="334155"/>
                </a:solidFill>
              </a:defRPr>
            </a:pPr>
            <a:r>
              <a:t>Zero-database filesystem engine with visual editor, auto-synchronization of missing keys, and native multi-language support.</a:t>
            </a:r>
          </a:p>
        </p:txBody>
      </p:sp>
      <p:sp>
        <p:nvSpPr>
          <p:cNvPr id="25" name="Rounded Rectangle 24"/>
          <p:cNvSpPr/>
          <p:nvPr/>
        </p:nvSpPr>
        <p:spPr>
          <a:xfrm>
            <a:off x="7955280" y="4572000"/>
            <a:ext cx="3429000" cy="150876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92440" y="4681728"/>
            <a:ext cx="3154680" cy="1280160"/>
          </a:xfrm>
          <a:prstGeom prst="rect">
            <a:avLst/>
          </a:prstGeom>
          <a:noFill/>
        </p:spPr>
        <p:txBody>
          <a:bodyPr wrap="square">
            <a:spAutoFit/>
          </a:bodyPr>
          <a:lstStyle/>
          <a:p>
            <a:pPr>
              <a:defRPr sz="1150" b="1">
                <a:solidFill>
                  <a:srgbClr val="B45309"/>
                </a:solidFill>
              </a:defRPr>
            </a:pPr>
            <a:r>
              <a:t>9. Coupons &amp; Promotions</a:t>
            </a:r>
          </a:p>
          <a:p>
            <a:pPr>
              <a:defRPr sz="919">
                <a:solidFill>
                  <a:srgbClr val="334155"/>
                </a:solidFill>
              </a:defRPr>
            </a:pPr>
            <a:r>
              <a:t>Flexible percentage or fixed discounts, start/end validity dates, usage limits, and platform or instructor-specific campaigns.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Key Modules &amp; Capabilities: Intelligence, Community &amp; Commerce (10–17 of 17)</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280160"/>
            <a:ext cx="3429000" cy="1508760"/>
          </a:xfrm>
          <a:prstGeom prst="roundRect">
            <a:avLst/>
          </a:prstGeom>
          <a:solidFill>
            <a:srgbClr val="FFFF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389888"/>
            <a:ext cx="3154680" cy="1280160"/>
          </a:xfrm>
          <a:prstGeom prst="rect">
            <a:avLst/>
          </a:prstGeom>
          <a:noFill/>
        </p:spPr>
        <p:txBody>
          <a:bodyPr wrap="square">
            <a:spAutoFit/>
          </a:bodyPr>
          <a:lstStyle/>
          <a:p>
            <a:pPr>
              <a:defRPr sz="1150" b="1">
                <a:solidFill>
                  <a:srgbClr val="005B8E"/>
                </a:solidFill>
              </a:defRPr>
            </a:pPr>
            <a:r>
              <a:t>10. Course Discussion Forums</a:t>
            </a:r>
          </a:p>
          <a:p>
            <a:pPr>
              <a:defRPr sz="919">
                <a:solidFill>
                  <a:srgbClr val="334155"/>
                </a:solidFill>
              </a:defRPr>
            </a:pPr>
            <a:r>
              <a:t>Per-course interactive community forums, threaded questions, reply likes, and pinned instructor announcements.</a:t>
            </a:r>
          </a:p>
        </p:txBody>
      </p:sp>
      <p:sp>
        <p:nvSpPr>
          <p:cNvPr id="11" name="Rounded Rectangle 10"/>
          <p:cNvSpPr/>
          <p:nvPr/>
        </p:nvSpPr>
        <p:spPr>
          <a:xfrm>
            <a:off x="4343400" y="1280160"/>
            <a:ext cx="3429000" cy="1508760"/>
          </a:xfrm>
          <a:prstGeom prst="roundRect">
            <a:avLst/>
          </a:prstGeom>
          <a:solidFill>
            <a:srgbClr val="FFFFFF"/>
          </a:solidFill>
          <a:ln w="1905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389888"/>
            <a:ext cx="3154680" cy="1280160"/>
          </a:xfrm>
          <a:prstGeom prst="rect">
            <a:avLst/>
          </a:prstGeom>
          <a:noFill/>
        </p:spPr>
        <p:txBody>
          <a:bodyPr wrap="square">
            <a:spAutoFit/>
          </a:bodyPr>
          <a:lstStyle/>
          <a:p>
            <a:pPr>
              <a:defRPr sz="1150" b="1">
                <a:solidFill>
                  <a:srgbClr val="7C3AED"/>
                </a:solidFill>
              </a:defRPr>
            </a:pPr>
            <a:r>
              <a:t>11. AI Teacher Assistant (Gemini)</a:t>
            </a:r>
          </a:p>
          <a:p>
            <a:pPr>
              <a:defRPr sz="919">
                <a:solidFill>
                  <a:srgbClr val="334155"/>
                </a:solidFill>
              </a:defRPr>
            </a:pPr>
            <a:r>
              <a:t>24/7 intelligent study assistant for student doubt resolution, AI course authoring, and personalized learning path roadmaps.</a:t>
            </a:r>
          </a:p>
        </p:txBody>
      </p:sp>
      <p:sp>
        <p:nvSpPr>
          <p:cNvPr id="13" name="Rounded Rectangle 12"/>
          <p:cNvSpPr/>
          <p:nvPr/>
        </p:nvSpPr>
        <p:spPr>
          <a:xfrm>
            <a:off x="7955280" y="1280160"/>
            <a:ext cx="3429000" cy="1508760"/>
          </a:xfrm>
          <a:prstGeom prst="roundRect">
            <a:avLst/>
          </a:prstGeom>
          <a:solidFill>
            <a:srgbClr val="FFFF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92440" y="1389888"/>
            <a:ext cx="3154680" cy="1280160"/>
          </a:xfrm>
          <a:prstGeom prst="rect">
            <a:avLst/>
          </a:prstGeom>
          <a:noFill/>
        </p:spPr>
        <p:txBody>
          <a:bodyPr wrap="square">
            <a:spAutoFit/>
          </a:bodyPr>
          <a:lstStyle/>
          <a:p>
            <a:pPr>
              <a:defRPr sz="1150" b="1">
                <a:solidFill>
                  <a:srgbClr val="0088CC"/>
                </a:solidFill>
              </a:defRPr>
            </a:pPr>
            <a:r>
              <a:t>12. Multi-Channel Push Alerts</a:t>
            </a:r>
          </a:p>
          <a:p>
            <a:pPr>
              <a:defRPr sz="919">
                <a:solidFill>
                  <a:srgbClr val="334155"/>
                </a:solidFill>
              </a:defRPr>
            </a:pPr>
            <a:r>
              <a:t>Universal notification engine delivering instant alerts to Web, Student App, and Instructor App for deadlines and classes.</a:t>
            </a:r>
          </a:p>
        </p:txBody>
      </p:sp>
      <p:sp>
        <p:nvSpPr>
          <p:cNvPr id="15" name="Rounded Rectangle 14"/>
          <p:cNvSpPr/>
          <p:nvPr/>
        </p:nvSpPr>
        <p:spPr>
          <a:xfrm>
            <a:off x="731520" y="2926080"/>
            <a:ext cx="3429000" cy="1508760"/>
          </a:xfrm>
          <a:prstGeom prst="roundRect">
            <a:avLst/>
          </a:prstGeom>
          <a:solidFill>
            <a:srgbClr val="FFFFFF"/>
          </a:solidFill>
          <a:ln w="19050">
            <a:solidFill>
              <a:srgbClr val="E11D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035808"/>
            <a:ext cx="3154680" cy="1280160"/>
          </a:xfrm>
          <a:prstGeom prst="rect">
            <a:avLst/>
          </a:prstGeom>
          <a:noFill/>
        </p:spPr>
        <p:txBody>
          <a:bodyPr wrap="square">
            <a:spAutoFit/>
          </a:bodyPr>
          <a:lstStyle/>
          <a:p>
            <a:pPr>
              <a:defRPr sz="1150" b="1">
                <a:solidFill>
                  <a:srgbClr val="E11D48"/>
                </a:solidFill>
              </a:defRPr>
            </a:pPr>
            <a:r>
              <a:t>13. Real-Time Chat &amp; Messaging</a:t>
            </a:r>
          </a:p>
          <a:p>
            <a:pPr>
              <a:defRPr sz="919">
                <a:solidFill>
                  <a:srgbClr val="334155"/>
                </a:solidFill>
              </a:defRPr>
            </a:pPr>
            <a:r>
              <a:t>Instant live 1-on-1 direct messaging between students and instructors with real-time unread counter badges.</a:t>
            </a:r>
          </a:p>
        </p:txBody>
      </p:sp>
      <p:sp>
        <p:nvSpPr>
          <p:cNvPr id="17" name="Rounded Rectangle 16"/>
          <p:cNvSpPr/>
          <p:nvPr/>
        </p:nvSpPr>
        <p:spPr>
          <a:xfrm>
            <a:off x="4343400" y="2926080"/>
            <a:ext cx="3429000" cy="1508760"/>
          </a:xfrm>
          <a:prstGeom prst="roundRect">
            <a:avLst/>
          </a:prstGeom>
          <a:solidFill>
            <a:srgbClr val="FFFFFF"/>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60" y="3035808"/>
            <a:ext cx="3154680" cy="1280160"/>
          </a:xfrm>
          <a:prstGeom prst="rect">
            <a:avLst/>
          </a:prstGeom>
          <a:noFill/>
        </p:spPr>
        <p:txBody>
          <a:bodyPr wrap="square">
            <a:spAutoFit/>
          </a:bodyPr>
          <a:lstStyle/>
          <a:p>
            <a:pPr>
              <a:defRPr sz="1150" b="1">
                <a:solidFill>
                  <a:srgbClr val="006837"/>
                </a:solidFill>
              </a:defRPr>
            </a:pPr>
            <a:r>
              <a:t>14. Course Bundle Addon</a:t>
            </a:r>
          </a:p>
          <a:p>
            <a:pPr>
              <a:defRPr sz="919">
                <a:solidFill>
                  <a:srgbClr val="334155"/>
                </a:solidFill>
              </a:defRPr>
            </a:pPr>
            <a:r>
              <a:t>Group multiple specialized courses into discounted packages to accelerate skills and increase order value.</a:t>
            </a:r>
          </a:p>
        </p:txBody>
      </p:sp>
      <p:sp>
        <p:nvSpPr>
          <p:cNvPr id="19" name="Rounded Rectangle 18"/>
          <p:cNvSpPr/>
          <p:nvPr/>
        </p:nvSpPr>
        <p:spPr>
          <a:xfrm>
            <a:off x="7955280" y="2926080"/>
            <a:ext cx="3429000" cy="1508760"/>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92440" y="3035808"/>
            <a:ext cx="3154680" cy="1280160"/>
          </a:xfrm>
          <a:prstGeom prst="rect">
            <a:avLst/>
          </a:prstGeom>
          <a:noFill/>
        </p:spPr>
        <p:txBody>
          <a:bodyPr wrap="square">
            <a:spAutoFit/>
          </a:bodyPr>
          <a:lstStyle/>
          <a:p>
            <a:pPr>
              <a:defRPr sz="1150" b="1">
                <a:solidFill>
                  <a:srgbClr val="DC2626"/>
                </a:solidFill>
              </a:defRPr>
            </a:pPr>
            <a:r>
              <a:t>15. Event Management &amp; Ticketing</a:t>
            </a:r>
          </a:p>
          <a:p>
            <a:pPr>
              <a:defRPr sz="919">
                <a:solidFill>
                  <a:srgbClr val="334155"/>
                </a:solidFill>
              </a:defRPr>
            </a:pPr>
            <a:r>
              <a:t>Sell tickets for online webinars, physical bank workshops, and seminars with venue capacity and seating limits.</a:t>
            </a:r>
          </a:p>
        </p:txBody>
      </p:sp>
      <p:sp>
        <p:nvSpPr>
          <p:cNvPr id="21" name="Rounded Rectangle 20"/>
          <p:cNvSpPr/>
          <p:nvPr/>
        </p:nvSpPr>
        <p:spPr>
          <a:xfrm>
            <a:off x="731520" y="4572000"/>
            <a:ext cx="3429000" cy="1508760"/>
          </a:xfrm>
          <a:prstGeom prst="roundRect">
            <a:avLst/>
          </a:prstGeom>
          <a:solidFill>
            <a:srgbClr val="FFFF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4681728"/>
            <a:ext cx="3154680" cy="1280160"/>
          </a:xfrm>
          <a:prstGeom prst="rect">
            <a:avLst/>
          </a:prstGeom>
          <a:noFill/>
        </p:spPr>
        <p:txBody>
          <a:bodyPr wrap="square">
            <a:spAutoFit/>
          </a:bodyPr>
          <a:lstStyle/>
          <a:p>
            <a:pPr>
              <a:defRPr sz="1150" b="1">
                <a:solidFill>
                  <a:srgbClr val="005B8E"/>
                </a:solidFill>
              </a:defRPr>
            </a:pPr>
            <a:r>
              <a:t>16. Dynamic CMS &amp; Page Builder</a:t>
            </a:r>
          </a:p>
          <a:p>
            <a:pPr>
              <a:defRPr sz="919">
                <a:solidFill>
                  <a:srgbClr val="334155"/>
                </a:solidFill>
              </a:defRPr>
            </a:pPr>
            <a:r>
              <a:t>Manage hero banners, about us pages, SEO metadata, and rich blog publishing system with full admin control.</a:t>
            </a:r>
          </a:p>
        </p:txBody>
      </p:sp>
      <p:sp>
        <p:nvSpPr>
          <p:cNvPr id="23" name="Rounded Rectangle 22"/>
          <p:cNvSpPr/>
          <p:nvPr/>
        </p:nvSpPr>
        <p:spPr>
          <a:xfrm>
            <a:off x="4343400" y="4572000"/>
            <a:ext cx="3429000" cy="150876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80560" y="4681728"/>
            <a:ext cx="3154680" cy="1280160"/>
          </a:xfrm>
          <a:prstGeom prst="rect">
            <a:avLst/>
          </a:prstGeom>
          <a:noFill/>
        </p:spPr>
        <p:txBody>
          <a:bodyPr wrap="square">
            <a:spAutoFit/>
          </a:bodyPr>
          <a:lstStyle/>
          <a:p>
            <a:pPr>
              <a:defRPr sz="1150" b="1">
                <a:solidFill>
                  <a:srgbClr val="B45309"/>
                </a:solidFill>
              </a:defRPr>
            </a:pPr>
            <a:r>
              <a:t>17. Bank Transfer &amp; Gateways</a:t>
            </a:r>
          </a:p>
          <a:p>
            <a:pPr>
              <a:defRPr sz="919">
                <a:solidFill>
                  <a:srgbClr val="334155"/>
                </a:solidFill>
              </a:defRPr>
            </a:pPr>
            <a:r>
              <a:t>Offline Bank Transfer instructions with transaction ID &amp; receipt image upload, plus 10+ integrated payment gateways.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Project Scope &amp; Methodology: Scope, deliverables, and implementation approach</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371600"/>
            <a:ext cx="5212080" cy="14173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08760"/>
            <a:ext cx="4846320" cy="1143000"/>
          </a:xfrm>
          <a:prstGeom prst="rect">
            <a:avLst/>
          </a:prstGeom>
          <a:noFill/>
        </p:spPr>
        <p:txBody>
          <a:bodyPr wrap="square">
            <a:spAutoFit/>
          </a:bodyPr>
          <a:lstStyle/>
          <a:p>
            <a:pPr>
              <a:defRPr sz="1200" b="1">
                <a:solidFill>
                  <a:srgbClr val="006837"/>
                </a:solidFill>
              </a:defRPr>
            </a:pPr>
            <a:r>
              <a:t>✔  High-Availability (HA) Infrastructure</a:t>
            </a:r>
          </a:p>
          <a:p>
            <a:pPr>
              <a:defRPr sz="950">
                <a:solidFill>
                  <a:srgbClr val="334155"/>
                </a:solidFill>
              </a:defRPr>
            </a:pPr>
            <a:r>
              <a:t>Deployment of multi-tier clustered Moodle architecture in PBZ data center or sovereign private cloud with failover and Nginx/HAProxy load balancing.</a:t>
            </a:r>
          </a:p>
        </p:txBody>
      </p:sp>
      <p:sp>
        <p:nvSpPr>
          <p:cNvPr id="11" name="Rounded Rectangle 10"/>
          <p:cNvSpPr/>
          <p:nvPr/>
        </p:nvSpPr>
        <p:spPr>
          <a:xfrm>
            <a:off x="6172200" y="1371600"/>
            <a:ext cx="5212080" cy="14173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508760"/>
            <a:ext cx="4846320" cy="1143000"/>
          </a:xfrm>
          <a:prstGeom prst="rect">
            <a:avLst/>
          </a:prstGeom>
          <a:noFill/>
        </p:spPr>
        <p:txBody>
          <a:bodyPr wrap="square">
            <a:spAutoFit/>
          </a:bodyPr>
          <a:lstStyle/>
          <a:p>
            <a:pPr>
              <a:defRPr sz="1200" b="1">
                <a:solidFill>
                  <a:srgbClr val="006837"/>
                </a:solidFill>
              </a:defRPr>
            </a:pPr>
            <a:r>
              <a:t>✔  Bespoke PBZ Banking Theme</a:t>
            </a:r>
          </a:p>
          <a:p>
            <a:pPr>
              <a:defRPr sz="950">
                <a:solidFill>
                  <a:srgbClr val="334155"/>
                </a:solidFill>
              </a:defRPr>
            </a:pPr>
            <a:r>
              <a:t>Custom branded responsive theme featuring official PBZ colors (#006837, #0088cc) optimized for desktop workstations and branch mobile tablets.</a:t>
            </a:r>
          </a:p>
        </p:txBody>
      </p:sp>
      <p:sp>
        <p:nvSpPr>
          <p:cNvPr id="13" name="Rounded Rectangle 12"/>
          <p:cNvSpPr/>
          <p:nvPr/>
        </p:nvSpPr>
        <p:spPr>
          <a:xfrm>
            <a:off x="731520" y="2971800"/>
            <a:ext cx="5212080" cy="14173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108960"/>
            <a:ext cx="4846320" cy="1143000"/>
          </a:xfrm>
          <a:prstGeom prst="rect">
            <a:avLst/>
          </a:prstGeom>
          <a:noFill/>
        </p:spPr>
        <p:txBody>
          <a:bodyPr wrap="square">
            <a:spAutoFit/>
          </a:bodyPr>
          <a:lstStyle/>
          <a:p>
            <a:pPr>
              <a:defRPr sz="1200" b="1">
                <a:solidFill>
                  <a:srgbClr val="006837"/>
                </a:solidFill>
              </a:defRPr>
            </a:pPr>
            <a:r>
              <a:t>✔  Active Directory &amp; SAML SSO</a:t>
            </a:r>
          </a:p>
          <a:p>
            <a:pPr>
              <a:defRPr sz="950">
                <a:solidFill>
                  <a:srgbClr val="334155"/>
                </a:solidFill>
              </a:defRPr>
            </a:pPr>
            <a:r>
              <a:t>Single Sign-On integration with PBZ Corporate Microsoft 365 / Active Directory with instant deprovisioning when employees depart the bank.</a:t>
            </a:r>
          </a:p>
        </p:txBody>
      </p:sp>
      <p:sp>
        <p:nvSpPr>
          <p:cNvPr id="15" name="Rounded Rectangle 14"/>
          <p:cNvSpPr/>
          <p:nvPr/>
        </p:nvSpPr>
        <p:spPr>
          <a:xfrm>
            <a:off x="6172200" y="2971800"/>
            <a:ext cx="5212080" cy="14173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108960"/>
            <a:ext cx="4846320" cy="1143000"/>
          </a:xfrm>
          <a:prstGeom prst="rect">
            <a:avLst/>
          </a:prstGeom>
          <a:noFill/>
        </p:spPr>
        <p:txBody>
          <a:bodyPr wrap="square">
            <a:spAutoFit/>
          </a:bodyPr>
          <a:lstStyle/>
          <a:p>
            <a:pPr>
              <a:defRPr sz="1200" b="1">
                <a:solidFill>
                  <a:srgbClr val="006837"/>
                </a:solidFill>
              </a:defRPr>
            </a:pPr>
            <a:r>
              <a:t>✔  BOT Compliance Reporting Engine</a:t>
            </a:r>
          </a:p>
          <a:p>
            <a:pPr>
              <a:defRPr sz="950">
                <a:solidFill>
                  <a:srgbClr val="334155"/>
                </a:solidFill>
              </a:defRPr>
            </a:pPr>
            <a:r>
              <a:t>Custom reporting plugin generating official Bank of Tanzania audit dossiers with timestamps, scores, and one-click Excel/PDF exports.</a:t>
            </a:r>
          </a:p>
        </p:txBody>
      </p:sp>
      <p:sp>
        <p:nvSpPr>
          <p:cNvPr id="17" name="Rounded Rectangle 16"/>
          <p:cNvSpPr/>
          <p:nvPr/>
        </p:nvSpPr>
        <p:spPr>
          <a:xfrm>
            <a:off x="731520" y="4572000"/>
            <a:ext cx="5212080" cy="14173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4709160"/>
            <a:ext cx="4846320" cy="1143000"/>
          </a:xfrm>
          <a:prstGeom prst="rect">
            <a:avLst/>
          </a:prstGeom>
          <a:noFill/>
        </p:spPr>
        <p:txBody>
          <a:bodyPr wrap="square">
            <a:spAutoFit/>
          </a:bodyPr>
          <a:lstStyle/>
          <a:p>
            <a:pPr>
              <a:defRPr sz="1200" b="1">
                <a:solidFill>
                  <a:srgbClr val="006837"/>
                </a:solidFill>
              </a:defRPr>
            </a:pPr>
            <a:r>
              <a:t>✔  3 Pilot Interactive SCORM Modules</a:t>
            </a:r>
          </a:p>
          <a:p>
            <a:pPr>
              <a:defRPr sz="950">
                <a:solidFill>
                  <a:srgbClr val="334155"/>
                </a:solidFill>
              </a:defRPr>
            </a:pPr>
            <a:r>
              <a:t>Conversion of primary policies into rich branching scenarios: 1) AML/CFT &amp; KYC, 2) Cyber Hygiene &amp; Threat Defense, 3) Islamic Banking (Amana).</a:t>
            </a:r>
          </a:p>
        </p:txBody>
      </p:sp>
      <p:sp>
        <p:nvSpPr>
          <p:cNvPr id="19" name="Rounded Rectangle 18"/>
          <p:cNvSpPr/>
          <p:nvPr/>
        </p:nvSpPr>
        <p:spPr>
          <a:xfrm>
            <a:off x="6172200" y="4572000"/>
            <a:ext cx="5212080" cy="1417320"/>
          </a:xfrm>
          <a:prstGeom prst="roundRect">
            <a:avLst/>
          </a:prstGeom>
          <a:solidFill>
            <a:srgbClr val="FFFFFF"/>
          </a:solidFill>
          <a:ln w="1905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709160"/>
            <a:ext cx="4846320" cy="1143000"/>
          </a:xfrm>
          <a:prstGeom prst="rect">
            <a:avLst/>
          </a:prstGeom>
          <a:noFill/>
        </p:spPr>
        <p:txBody>
          <a:bodyPr wrap="square">
            <a:spAutoFit/>
          </a:bodyPr>
          <a:lstStyle/>
          <a:p>
            <a:pPr>
              <a:defRPr sz="1200" b="1">
                <a:solidFill>
                  <a:srgbClr val="006837"/>
                </a:solidFill>
              </a:defRPr>
            </a:pPr>
            <a:r>
              <a:t>✔  Quality Assurance &amp; Knowledge Handover</a:t>
            </a:r>
          </a:p>
          <a:p>
            <a:pPr>
              <a:defRPr sz="950">
                <a:solidFill>
                  <a:srgbClr val="334155"/>
                </a:solidFill>
              </a:defRPr>
            </a:pPr>
            <a:r>
              <a:t>Load testing up to 1,000 concurrent branch users, independent penetration testing, and 10 days of certified hands-on training for PBZ IT &amp; HR.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Project Scope &amp; Methodology: Hybrid Agile-Waterfall Delivery Approach</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463040"/>
            <a:ext cx="2011680" cy="3291840"/>
          </a:xfrm>
          <a:prstGeom prst="roundRect">
            <a:avLst/>
          </a:prstGeom>
          <a:solidFill>
            <a:srgbClr val="FFFF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645920"/>
            <a:ext cx="1737360" cy="2926080"/>
          </a:xfrm>
          <a:prstGeom prst="rect">
            <a:avLst/>
          </a:prstGeom>
          <a:noFill/>
        </p:spPr>
        <p:txBody>
          <a:bodyPr wrap="square">
            <a:spAutoFit/>
          </a:bodyPr>
          <a:lstStyle/>
          <a:p>
            <a:pPr>
              <a:defRPr sz="1100" b="1">
                <a:solidFill>
                  <a:srgbClr val="005B8E"/>
                </a:solidFill>
              </a:defRPr>
            </a:pPr>
            <a:r>
              <a:t>Stage 1</a:t>
            </a:r>
          </a:p>
          <a:p>
            <a:pPr>
              <a:defRPr sz="1250" b="1">
                <a:solidFill>
                  <a:srgbClr val="0F172A"/>
                </a:solidFill>
              </a:defRPr>
            </a:pPr>
            <a:r>
              <a:t>Inception &amp; Discovery</a:t>
            </a:r>
          </a:p>
          <a:p>
            <a:br/>
            <a:pPr>
              <a:defRPr sz="950">
                <a:solidFill>
                  <a:srgbClr val="64748B"/>
                </a:solidFill>
              </a:defRPr>
            </a:pPr>
            <a:r>
              <a:t>Duration: W1 - W3</a:t>
            </a:r>
            <a:br/>
          </a:p>
          <a:p>
            <a:pPr>
              <a:defRPr sz="950" b="1">
                <a:solidFill>
                  <a:srgbClr val="005B8E"/>
                </a:solidFill>
              </a:defRPr>
            </a:pPr>
            <a:r>
              <a:t>Gate 1: Blueprint Sign-Off</a:t>
            </a:r>
          </a:p>
        </p:txBody>
      </p:sp>
      <p:sp>
        <p:nvSpPr>
          <p:cNvPr id="11" name="Rounded Rectangle 10"/>
          <p:cNvSpPr/>
          <p:nvPr/>
        </p:nvSpPr>
        <p:spPr>
          <a:xfrm>
            <a:off x="2907791" y="1463040"/>
            <a:ext cx="2011680" cy="3291840"/>
          </a:xfrm>
          <a:prstGeom prst="roundRect">
            <a:avLst/>
          </a:prstGeom>
          <a:solidFill>
            <a:srgbClr val="FFFFFF"/>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44951" y="1645920"/>
            <a:ext cx="1737360" cy="2926080"/>
          </a:xfrm>
          <a:prstGeom prst="rect">
            <a:avLst/>
          </a:prstGeom>
          <a:noFill/>
        </p:spPr>
        <p:txBody>
          <a:bodyPr wrap="square">
            <a:spAutoFit/>
          </a:bodyPr>
          <a:lstStyle/>
          <a:p>
            <a:pPr>
              <a:defRPr sz="1100" b="1">
                <a:solidFill>
                  <a:srgbClr val="006837"/>
                </a:solidFill>
              </a:defRPr>
            </a:pPr>
            <a:r>
              <a:t>Stage 2</a:t>
            </a:r>
          </a:p>
          <a:p>
            <a:pPr>
              <a:defRPr sz="1250" b="1">
                <a:solidFill>
                  <a:srgbClr val="0F172A"/>
                </a:solidFill>
              </a:defRPr>
            </a:pPr>
            <a:r>
              <a:t>Prototyping &amp; Build</a:t>
            </a:r>
          </a:p>
          <a:p>
            <a:br/>
            <a:pPr>
              <a:defRPr sz="950">
                <a:solidFill>
                  <a:srgbClr val="64748B"/>
                </a:solidFill>
              </a:defRPr>
            </a:pPr>
            <a:r>
              <a:t>Duration: W4 - W7</a:t>
            </a:r>
            <a:br/>
          </a:p>
          <a:p>
            <a:pPr>
              <a:defRPr sz="950" b="1">
                <a:solidFill>
                  <a:srgbClr val="006837"/>
                </a:solidFill>
              </a:defRPr>
            </a:pPr>
            <a:r>
              <a:t>Gate 2: Prototype Sign-Off (W5)</a:t>
            </a:r>
          </a:p>
        </p:txBody>
      </p:sp>
      <p:sp>
        <p:nvSpPr>
          <p:cNvPr id="13" name="Rounded Rectangle 12"/>
          <p:cNvSpPr/>
          <p:nvPr/>
        </p:nvSpPr>
        <p:spPr>
          <a:xfrm>
            <a:off x="5084064" y="1463040"/>
            <a:ext cx="2011680" cy="3291840"/>
          </a:xfrm>
          <a:prstGeom prst="roundRect">
            <a:avLst/>
          </a:prstGeom>
          <a:solidFill>
            <a:srgbClr val="FFFF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21224" y="1645920"/>
            <a:ext cx="1737360" cy="2926080"/>
          </a:xfrm>
          <a:prstGeom prst="rect">
            <a:avLst/>
          </a:prstGeom>
          <a:noFill/>
        </p:spPr>
        <p:txBody>
          <a:bodyPr wrap="square">
            <a:spAutoFit/>
          </a:bodyPr>
          <a:lstStyle/>
          <a:p>
            <a:pPr>
              <a:defRPr sz="1100" b="1">
                <a:solidFill>
                  <a:srgbClr val="0088CC"/>
                </a:solidFill>
              </a:defRPr>
            </a:pPr>
            <a:r>
              <a:t>Stage 3</a:t>
            </a:r>
          </a:p>
          <a:p>
            <a:pPr>
              <a:defRPr sz="1250" b="1">
                <a:solidFill>
                  <a:srgbClr val="0F172A"/>
                </a:solidFill>
              </a:defRPr>
            </a:pPr>
            <a:r>
              <a:t>Theming &amp; SSO Sync</a:t>
            </a:r>
          </a:p>
          <a:p>
            <a:br/>
            <a:pPr>
              <a:defRPr sz="950">
                <a:solidFill>
                  <a:srgbClr val="64748B"/>
                </a:solidFill>
              </a:defRPr>
            </a:pPr>
            <a:r>
              <a:t>Duration: W8 - W11</a:t>
            </a:r>
            <a:br/>
          </a:p>
          <a:p>
            <a:pPr>
              <a:defRPr sz="950" b="1">
                <a:solidFill>
                  <a:srgbClr val="0088CC"/>
                </a:solidFill>
              </a:defRPr>
            </a:pPr>
            <a:r>
              <a:t>Gate 3: Pilot Readiness</a:t>
            </a:r>
          </a:p>
        </p:txBody>
      </p:sp>
      <p:sp>
        <p:nvSpPr>
          <p:cNvPr id="15" name="Rounded Rectangle 14"/>
          <p:cNvSpPr/>
          <p:nvPr/>
        </p:nvSpPr>
        <p:spPr>
          <a:xfrm>
            <a:off x="7260336" y="1463040"/>
            <a:ext cx="2011680" cy="329184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97496" y="1645920"/>
            <a:ext cx="1737360" cy="2926080"/>
          </a:xfrm>
          <a:prstGeom prst="rect">
            <a:avLst/>
          </a:prstGeom>
          <a:noFill/>
        </p:spPr>
        <p:txBody>
          <a:bodyPr wrap="square">
            <a:spAutoFit/>
          </a:bodyPr>
          <a:lstStyle/>
          <a:p>
            <a:pPr>
              <a:defRPr sz="1100" b="1">
                <a:solidFill>
                  <a:srgbClr val="B45309"/>
                </a:solidFill>
              </a:defRPr>
            </a:pPr>
            <a:r>
              <a:t>Stage 4</a:t>
            </a:r>
          </a:p>
          <a:p>
            <a:pPr>
              <a:defRPr sz="1250" b="1">
                <a:solidFill>
                  <a:srgbClr val="0F172A"/>
                </a:solidFill>
              </a:defRPr>
            </a:pPr>
            <a:r>
              <a:t>Security Audit &amp; UAT</a:t>
            </a:r>
          </a:p>
          <a:p>
            <a:br/>
            <a:pPr>
              <a:defRPr sz="950">
                <a:solidFill>
                  <a:srgbClr val="64748B"/>
                </a:solidFill>
              </a:defRPr>
            </a:pPr>
            <a:r>
              <a:t>Duration: W12 - W13</a:t>
            </a:r>
            <a:br/>
          </a:p>
          <a:p>
            <a:pPr>
              <a:defRPr sz="950" b="1">
                <a:solidFill>
                  <a:srgbClr val="B45309"/>
                </a:solidFill>
              </a:defRPr>
            </a:pPr>
            <a:r>
              <a:t>Gate 4: Security Acceptance</a:t>
            </a:r>
          </a:p>
        </p:txBody>
      </p:sp>
      <p:sp>
        <p:nvSpPr>
          <p:cNvPr id="17" name="Rounded Rectangle 16"/>
          <p:cNvSpPr/>
          <p:nvPr/>
        </p:nvSpPr>
        <p:spPr>
          <a:xfrm>
            <a:off x="9436608" y="1463040"/>
            <a:ext cx="2011680" cy="3291840"/>
          </a:xfrm>
          <a:prstGeom prst="roundRect">
            <a:avLst/>
          </a:prstGeom>
          <a:solidFill>
            <a:srgbClr val="FFFFFF"/>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73768" y="1645920"/>
            <a:ext cx="1737360" cy="2926080"/>
          </a:xfrm>
          <a:prstGeom prst="rect">
            <a:avLst/>
          </a:prstGeom>
          <a:noFill/>
        </p:spPr>
        <p:txBody>
          <a:bodyPr wrap="square">
            <a:spAutoFit/>
          </a:bodyPr>
          <a:lstStyle/>
          <a:p>
            <a:pPr>
              <a:defRPr sz="1100" b="1">
                <a:solidFill>
                  <a:srgbClr val="006837"/>
                </a:solidFill>
              </a:defRPr>
            </a:pPr>
            <a:r>
              <a:t>Stage 5</a:t>
            </a:r>
          </a:p>
          <a:p>
            <a:pPr>
              <a:defRPr sz="1250" b="1">
                <a:solidFill>
                  <a:srgbClr val="0F172A"/>
                </a:solidFill>
              </a:defRPr>
            </a:pPr>
            <a:r>
              <a:t>Go-Live &amp; Handover</a:t>
            </a:r>
          </a:p>
          <a:p>
            <a:br/>
            <a:pPr>
              <a:defRPr sz="950">
                <a:solidFill>
                  <a:srgbClr val="64748B"/>
                </a:solidFill>
              </a:defRPr>
            </a:pPr>
            <a:r>
              <a:t>Duration: W14 + 30d</a:t>
            </a:r>
            <a:br/>
          </a:p>
          <a:p>
            <a:pPr>
              <a:defRPr sz="950" b="1">
                <a:solidFill>
                  <a:srgbClr val="006837"/>
                </a:solidFill>
              </a:defRPr>
            </a:pPr>
            <a:r>
              <a:t>Gate 5: Operational Launch</a:t>
            </a:r>
          </a:p>
        </p:txBody>
      </p:sp>
      <p:sp>
        <p:nvSpPr>
          <p:cNvPr id="19" name="Rounded Rectangle 18"/>
          <p:cNvSpPr/>
          <p:nvPr/>
        </p:nvSpPr>
        <p:spPr>
          <a:xfrm>
            <a:off x="731520" y="5029200"/>
            <a:ext cx="10652760" cy="1371600"/>
          </a:xfrm>
          <a:prstGeom prst="roundRect">
            <a:avLst/>
          </a:prstGeom>
          <a:solidFill>
            <a:srgbClr val="F0F9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120640"/>
            <a:ext cx="10287000" cy="1188720"/>
          </a:xfrm>
          <a:prstGeom prst="rect">
            <a:avLst/>
          </a:prstGeom>
          <a:noFill/>
        </p:spPr>
        <p:txBody>
          <a:bodyPr wrap="square">
            <a:spAutoFit/>
          </a:bodyPr>
          <a:lstStyle/>
          <a:p>
            <a:pPr>
              <a:defRPr sz="1200" b="1">
                <a:solidFill>
                  <a:srgbClr val="005B8E"/>
                </a:solidFill>
              </a:defRPr>
            </a:pPr>
            <a:r>
              <a:t>Banking Governance &amp; Quality Controls:</a:t>
            </a:r>
          </a:p>
          <a:p>
            <a:pPr>
              <a:defRPr sz="1000">
                <a:solidFill>
                  <a:srgbClr val="334155"/>
                </a:solidFill>
              </a:defRPr>
            </a:pPr>
            <a:r>
              <a:t>• Bi-Weekly Sprints: Sprints 1–6 deliver working increments demonstrated to PBZ PMO every two weeks.</a:t>
            </a:r>
            <a:br/>
            <a:r>
              <a:t>• Strict Stage-Gates: Formal acceptance sign-offs prevent advancement without PBZ stakeholder approval.</a:t>
            </a:r>
            <a:br/>
            <a:r>
              <a:t>• Weekly Steering Committee: 45-min weekly sync between PBZ Project Sponsor, CIO, HR Director, and Vendor Lead.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Technical Architecture &amp; Security: System architecture and high-availability topology</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371600"/>
            <a:ext cx="10652760" cy="1234440"/>
          </a:xfrm>
          <a:prstGeom prst="roundRect">
            <a:avLst/>
          </a:prstGeom>
          <a:solidFill>
            <a:srgbClr val="FEF2F2"/>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463040"/>
            <a:ext cx="10287000" cy="1051560"/>
          </a:xfrm>
          <a:prstGeom prst="rect">
            <a:avLst/>
          </a:prstGeom>
          <a:noFill/>
        </p:spPr>
        <p:txBody>
          <a:bodyPr wrap="square">
            <a:spAutoFit/>
          </a:bodyPr>
          <a:lstStyle/>
          <a:p>
            <a:pPr>
              <a:defRPr sz="1100" b="1">
                <a:solidFill>
                  <a:srgbClr val="B91C1C"/>
                </a:solidFill>
              </a:defRPr>
            </a:pPr>
            <a:r>
              <a:t>TIER 1: PERIMETER DMZ &amp; SECURITY LAYER</a:t>
            </a:r>
          </a:p>
          <a:p>
            <a:pPr>
              <a:defRPr sz="1000">
                <a:solidFill>
                  <a:srgbClr val="334155"/>
                </a:solidFill>
              </a:defRPr>
            </a:pPr>
            <a:r>
              <a:t>PBZ Web Application Firewall (WAF) &amp; DDoS Protection  •  Mandatory TLS 1.3 Termination with Strict HSTS  •  Nginx/HAProxy Reverse Proxy Load Balancer with Health Checks &amp; Failover</a:t>
            </a:r>
          </a:p>
        </p:txBody>
      </p:sp>
      <p:sp>
        <p:nvSpPr>
          <p:cNvPr id="11" name="Rounded Rectangle 10"/>
          <p:cNvSpPr/>
          <p:nvPr/>
        </p:nvSpPr>
        <p:spPr>
          <a:xfrm>
            <a:off x="731520" y="2834640"/>
            <a:ext cx="10652760" cy="1508760"/>
          </a:xfrm>
          <a:prstGeom prst="roundRect">
            <a:avLst/>
          </a:prstGeom>
          <a:solidFill>
            <a:srgbClr val="F0FDF4"/>
          </a:solidFill>
          <a:ln>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926080"/>
            <a:ext cx="10287000" cy="1325880"/>
          </a:xfrm>
          <a:prstGeom prst="rect">
            <a:avLst/>
          </a:prstGeom>
          <a:noFill/>
        </p:spPr>
        <p:txBody>
          <a:bodyPr wrap="square">
            <a:spAutoFit/>
          </a:bodyPr>
          <a:lstStyle/>
          <a:p>
            <a:pPr>
              <a:defRPr sz="1100" b="1">
                <a:solidFill>
                  <a:srgbClr val="006837"/>
                </a:solidFill>
              </a:defRPr>
            </a:pPr>
            <a:r>
              <a:t>TIER 2: APPLICATION CLUSTER (ISOLATED PRIVATE SUBNET)</a:t>
            </a:r>
          </a:p>
          <a:p>
            <a:pPr>
              <a:defRPr sz="1000">
                <a:solidFill>
                  <a:srgbClr val="334155"/>
                </a:solidFill>
              </a:defRPr>
            </a:pPr>
            <a:r>
              <a:t>Active-Active Moodle Core App Nodes (PHP 8.3-FPM)  •  PBZ Corporate Banking Theme Engine  •  Automated BOT Regulatory Plugin  •  Redis In-Memory Distributed Session &amp; MUC Caching Cluster (Sub-millisecond latency)</a:t>
            </a:r>
          </a:p>
        </p:txBody>
      </p:sp>
      <p:sp>
        <p:nvSpPr>
          <p:cNvPr id="13" name="Rounded Rectangle 12"/>
          <p:cNvSpPr/>
          <p:nvPr/>
        </p:nvSpPr>
        <p:spPr>
          <a:xfrm>
            <a:off x="731520" y="4572000"/>
            <a:ext cx="10652760" cy="1600200"/>
          </a:xfrm>
          <a:prstGeom prst="roundRect">
            <a:avLst/>
          </a:prstGeom>
          <a:solidFill>
            <a:srgbClr val="F0F9FF"/>
          </a:solidFill>
          <a:ln>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663440"/>
            <a:ext cx="10287000" cy="1417320"/>
          </a:xfrm>
          <a:prstGeom prst="rect">
            <a:avLst/>
          </a:prstGeom>
          <a:noFill/>
        </p:spPr>
        <p:txBody>
          <a:bodyPr wrap="square">
            <a:spAutoFit/>
          </a:bodyPr>
          <a:lstStyle/>
          <a:p>
            <a:pPr>
              <a:defRPr sz="1100" b="1">
                <a:solidFill>
                  <a:srgbClr val="005B8E"/>
                </a:solidFill>
              </a:defRPr>
            </a:pPr>
            <a:r>
              <a:t>TIER 3: CORE DATA STORAGE &amp; DIRECTORY INTEGRATION</a:t>
            </a:r>
          </a:p>
          <a:p>
            <a:pPr>
              <a:defRPr sz="1000">
                <a:solidFill>
                  <a:srgbClr val="334155"/>
                </a:solidFill>
              </a:defRPr>
            </a:pPr>
            <a:r>
              <a:t>PostgreSQL 16 High-Availability Cluster (Primary + Synchronous Standby with Automated Wal-G Backups)  •  PBZ Corporate Active Directory / Azure AD SAML 2.0 Single Sign-On  •  AES-256 Encrypted Shared Storage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Technical Architecture &amp; Security: Ownership, security protocols, and data protection</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371600"/>
            <a:ext cx="5212080" cy="2240280"/>
          </a:xfrm>
          <a:prstGeom prst="roundRect">
            <a:avLst/>
          </a:prstGeom>
          <a:solidFill>
            <a:srgbClr val="F0FDF4"/>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554480"/>
            <a:ext cx="4754880" cy="1874519"/>
          </a:xfrm>
          <a:prstGeom prst="rect">
            <a:avLst/>
          </a:prstGeom>
          <a:noFill/>
        </p:spPr>
        <p:txBody>
          <a:bodyPr wrap="square">
            <a:spAutoFit/>
          </a:bodyPr>
          <a:lstStyle/>
          <a:p>
            <a:pPr>
              <a:defRPr sz="1350" b="1">
                <a:solidFill>
                  <a:srgbClr val="006837"/>
                </a:solidFill>
              </a:defRPr>
            </a:pPr>
            <a:r>
              <a:t>100% Perpetual Ownership</a:t>
            </a:r>
          </a:p>
          <a:p>
            <a:br/>
            <a:pPr>
              <a:defRPr sz="1000">
                <a:solidFill>
                  <a:srgbClr val="334155"/>
                </a:solidFill>
              </a:defRPr>
            </a:pPr>
            <a:r>
              <a:t>PBZ receives complete ownership of source code, configurations, plugins, and the database schema. Unlike proprietary SaaS, the core engine has ZERO recurring license fees in perpetuity.</a:t>
            </a:r>
          </a:p>
        </p:txBody>
      </p:sp>
      <p:sp>
        <p:nvSpPr>
          <p:cNvPr id="11" name="Rounded Rectangle 10"/>
          <p:cNvSpPr/>
          <p:nvPr/>
        </p:nvSpPr>
        <p:spPr>
          <a:xfrm>
            <a:off x="6172200" y="1371600"/>
            <a:ext cx="5212080" cy="2240280"/>
          </a:xfrm>
          <a:prstGeom prst="roundRect">
            <a:avLst/>
          </a:prstGeom>
          <a:solidFill>
            <a:srgbClr val="F0F9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54480"/>
            <a:ext cx="4754880" cy="1874519"/>
          </a:xfrm>
          <a:prstGeom prst="rect">
            <a:avLst/>
          </a:prstGeom>
          <a:noFill/>
        </p:spPr>
        <p:txBody>
          <a:bodyPr wrap="square">
            <a:spAutoFit/>
          </a:bodyPr>
          <a:lstStyle/>
          <a:p>
            <a:pPr>
              <a:defRPr sz="1350" b="1">
                <a:solidFill>
                  <a:srgbClr val="005B8E"/>
                </a:solidFill>
              </a:defRPr>
            </a:pPr>
            <a:r>
              <a:t>Sovereign Data Residency</a:t>
            </a:r>
          </a:p>
          <a:p>
            <a:br/>
            <a:pPr>
              <a:defRPr sz="1000">
                <a:solidFill>
                  <a:srgbClr val="334155"/>
                </a:solidFill>
              </a:defRPr>
            </a:pPr>
            <a:r>
              <a:t>All database records, employee profiles, quiz attempts, and audit logs reside 100% within Tanzania/Zanzibar borders, fulfilling Bank of Tanzania regulations and the Tanzania Personal Data Protection Act (PDPA).</a:t>
            </a:r>
          </a:p>
        </p:txBody>
      </p:sp>
      <p:sp>
        <p:nvSpPr>
          <p:cNvPr id="13" name="Rounded Rectangle 12"/>
          <p:cNvSpPr/>
          <p:nvPr/>
        </p:nvSpPr>
        <p:spPr>
          <a:xfrm>
            <a:off x="731520" y="3794760"/>
            <a:ext cx="5212080" cy="2240280"/>
          </a:xfrm>
          <a:prstGeom prst="roundRect">
            <a:avLst/>
          </a:prstGeom>
          <a:solidFill>
            <a:srgbClr val="F0F9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3977640"/>
            <a:ext cx="4754880" cy="1874519"/>
          </a:xfrm>
          <a:prstGeom prst="rect">
            <a:avLst/>
          </a:prstGeom>
          <a:noFill/>
        </p:spPr>
        <p:txBody>
          <a:bodyPr wrap="square">
            <a:spAutoFit/>
          </a:bodyPr>
          <a:lstStyle/>
          <a:p>
            <a:pPr>
              <a:defRPr sz="1350" b="1">
                <a:solidFill>
                  <a:srgbClr val="0088CC"/>
                </a:solidFill>
              </a:defRPr>
            </a:pPr>
            <a:r>
              <a:t>Enterprise Cryptography</a:t>
            </a:r>
          </a:p>
          <a:p>
            <a:br/>
            <a:pPr>
              <a:defRPr sz="1000">
                <a:solidFill>
                  <a:srgbClr val="334155"/>
                </a:solidFill>
              </a:defRPr>
            </a:pPr>
            <a:r>
              <a:t>Mandatory TLS 1.3 in transit with HSTS; database tablespaces and file stores encrypted using AES-256 with PBZ-managed cryptographic keys (HSM / KMS) and automated key rotation.</a:t>
            </a:r>
          </a:p>
        </p:txBody>
      </p:sp>
      <p:sp>
        <p:nvSpPr>
          <p:cNvPr id="15" name="Rounded Rectangle 14"/>
          <p:cNvSpPr/>
          <p:nvPr/>
        </p:nvSpPr>
        <p:spPr>
          <a:xfrm>
            <a:off x="6172200" y="3794760"/>
            <a:ext cx="5212080" cy="2240280"/>
          </a:xfrm>
          <a:prstGeom prst="roundRect">
            <a:avLst/>
          </a:prstGeom>
          <a:solidFill>
            <a:srgbClr val="F0FDF4"/>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977640"/>
            <a:ext cx="4754880" cy="1874519"/>
          </a:xfrm>
          <a:prstGeom prst="rect">
            <a:avLst/>
          </a:prstGeom>
          <a:noFill/>
        </p:spPr>
        <p:txBody>
          <a:bodyPr wrap="square">
            <a:spAutoFit/>
          </a:bodyPr>
          <a:lstStyle/>
          <a:p>
            <a:pPr>
              <a:defRPr sz="1350" b="1">
                <a:solidFill>
                  <a:srgbClr val="006837"/>
                </a:solidFill>
              </a:defRPr>
            </a:pPr>
            <a:r>
              <a:t>Identity Governance &amp; MFA</a:t>
            </a:r>
          </a:p>
          <a:p>
            <a:br/>
            <a:pPr>
              <a:defRPr sz="1000">
                <a:solidFill>
                  <a:srgbClr val="334155"/>
                </a:solidFill>
              </a:defRPr>
            </a:pPr>
            <a:r>
              <a:t>Seamless Active Directory synchronization: when staff depart PBZ, their LMS access is revoked instantaneously. Multi-Factor Authentication (MFA) enforcement for Admins and Branch Managers.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Commercial Proposal &amp; Resourcing: Detailed cost breakdown and justification of proposed man-days</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graphicFrame>
        <p:nvGraphicFramePr>
          <p:cNvPr id="9" name="Table 8"/>
          <p:cNvGraphicFramePr>
            <a:graphicFrameLocks noGrp="1"/>
          </p:cNvGraphicFramePr>
          <p:nvPr/>
        </p:nvGraphicFramePr>
        <p:xfrm>
          <a:off x="731520" y="1371600"/>
          <a:ext cx="10652760" cy="4754880"/>
        </p:xfrm>
        <a:graphic>
          <a:graphicData uri="http://schemas.openxmlformats.org/drawingml/2006/table">
            <a:tbl>
              <a:tblPr firstRow="1" bandRow="1">
                <a:tableStyleId>{5C22544A-7EE6-4342-B048-85BDC9FD1C3A}</a:tableStyleId>
              </a:tblPr>
              <a:tblGrid>
                <a:gridCol w="2926080"/>
                <a:gridCol w="822960"/>
                <a:gridCol w="4160520"/>
                <a:gridCol w="1188720"/>
                <a:gridCol w="1554480"/>
              </a:tblGrid>
              <a:tr h="594360">
                <a:tc>
                  <a:txBody>
                    <a:bodyPr/>
                    <a:lstStyle/>
                    <a:p>
                      <a:pPr>
                        <a:defRPr b="1" sz="1000">
                          <a:solidFill>
                            <a:srgbClr val="FFFFFF"/>
                          </a:solidFill>
                          <a:latin typeface="Arial"/>
                        </a:defRPr>
                      </a:pPr>
                      <a:r>
                        <a:t>Role Profile</a:t>
                      </a:r>
                    </a:p>
                  </a:txBody>
                  <a:tcPr>
                    <a:solidFill>
                      <a:srgbClr val="006837"/>
                    </a:solidFill>
                  </a:tcPr>
                </a:tc>
                <a:tc>
                  <a:txBody>
                    <a:bodyPr/>
                    <a:lstStyle/>
                    <a:p>
                      <a:pPr>
                        <a:defRPr b="1" sz="1000">
                          <a:solidFill>
                            <a:srgbClr val="FFFFFF"/>
                          </a:solidFill>
                          <a:latin typeface="Arial"/>
                        </a:defRPr>
                      </a:pPr>
                      <a:r>
                        <a:t>Days</a:t>
                      </a:r>
                    </a:p>
                  </a:txBody>
                  <a:tcPr>
                    <a:solidFill>
                      <a:srgbClr val="006837"/>
                    </a:solidFill>
                  </a:tcPr>
                </a:tc>
                <a:tc>
                  <a:txBody>
                    <a:bodyPr/>
                    <a:lstStyle/>
                    <a:p>
                      <a:pPr>
                        <a:defRPr b="1" sz="1000">
                          <a:solidFill>
                            <a:srgbClr val="FFFFFF"/>
                          </a:solidFill>
                          <a:latin typeface="Arial"/>
                        </a:defRPr>
                      </a:pPr>
                      <a:r>
                        <a:t>Responsibilities &amp; Value Delivered</a:t>
                      </a:r>
                    </a:p>
                  </a:txBody>
                  <a:tcPr>
                    <a:solidFill>
                      <a:srgbClr val="006837"/>
                    </a:solidFill>
                  </a:tcPr>
                </a:tc>
                <a:tc>
                  <a:txBody>
                    <a:bodyPr/>
                    <a:lstStyle/>
                    <a:p>
                      <a:pPr>
                        <a:defRPr b="1" sz="1000">
                          <a:solidFill>
                            <a:srgbClr val="FFFFFF"/>
                          </a:solidFill>
                          <a:latin typeface="Arial"/>
                        </a:defRPr>
                      </a:pPr>
                      <a:r>
                        <a:t>Rate (TZS)</a:t>
                      </a:r>
                    </a:p>
                  </a:txBody>
                  <a:tcPr>
                    <a:solidFill>
                      <a:srgbClr val="006837"/>
                    </a:solidFill>
                  </a:tcPr>
                </a:tc>
                <a:tc>
                  <a:txBody>
                    <a:bodyPr/>
                    <a:lstStyle/>
                    <a:p>
                      <a:pPr>
                        <a:defRPr b="1" sz="1000">
                          <a:solidFill>
                            <a:srgbClr val="FFFFFF"/>
                          </a:solidFill>
                          <a:latin typeface="Arial"/>
                        </a:defRPr>
                      </a:pPr>
                      <a:r>
                        <a:t>Total (TZS)</a:t>
                      </a:r>
                    </a:p>
                  </a:txBody>
                  <a:tcPr>
                    <a:solidFill>
                      <a:srgbClr val="006837"/>
                    </a:solidFill>
                  </a:tcPr>
                </a:tc>
              </a:tr>
              <a:tr h="594360">
                <a:tc>
                  <a:txBody>
                    <a:bodyPr/>
                    <a:lstStyle/>
                    <a:p>
                      <a:pPr>
                        <a:defRPr sz="950">
                          <a:solidFill>
                            <a:srgbClr val="0F172A"/>
                          </a:solidFill>
                          <a:latin typeface="Arial"/>
                        </a:defRPr>
                      </a:pPr>
                      <a:r>
                        <a:t>Enterprise Solutions Architect</a:t>
                      </a:r>
                    </a:p>
                  </a:txBody>
                  <a:tcPr>
                    <a:solidFill>
                      <a:srgbClr val="FFFFFF"/>
                    </a:solidFill>
                  </a:tcPr>
                </a:tc>
                <a:tc>
                  <a:txBody>
                    <a:bodyPr/>
                    <a:lstStyle/>
                    <a:p>
                      <a:pPr>
                        <a:defRPr sz="950">
                          <a:solidFill>
                            <a:srgbClr val="0F172A"/>
                          </a:solidFill>
                          <a:latin typeface="Arial"/>
                        </a:defRPr>
                      </a:pPr>
                      <a:r>
                        <a:t>18</a:t>
                      </a:r>
                    </a:p>
                  </a:txBody>
                  <a:tcPr>
                    <a:solidFill>
                      <a:srgbClr val="FFFFFF"/>
                    </a:solidFill>
                  </a:tcPr>
                </a:tc>
                <a:tc>
                  <a:txBody>
                    <a:bodyPr/>
                    <a:lstStyle/>
                    <a:p>
                      <a:pPr>
                        <a:defRPr sz="950">
                          <a:solidFill>
                            <a:srgbClr val="334155"/>
                          </a:solidFill>
                          <a:latin typeface="Arial"/>
                        </a:defRPr>
                      </a:pPr>
                      <a:r>
                        <a:t>HA cluster design, BOT compliance validation, security blueprint</a:t>
                      </a:r>
                    </a:p>
                  </a:txBody>
                  <a:tcPr>
                    <a:solidFill>
                      <a:srgbClr val="FFFFFF"/>
                    </a:solidFill>
                  </a:tcPr>
                </a:tc>
                <a:tc>
                  <a:txBody>
                    <a:bodyPr/>
                    <a:lstStyle/>
                    <a:p>
                      <a:pPr>
                        <a:defRPr sz="950">
                          <a:solidFill>
                            <a:srgbClr val="0F172A"/>
                          </a:solidFill>
                          <a:latin typeface="Arial"/>
                        </a:defRPr>
                      </a:pPr>
                      <a:r>
                        <a:t>1,100,000</a:t>
                      </a:r>
                    </a:p>
                  </a:txBody>
                  <a:tcPr>
                    <a:solidFill>
                      <a:srgbClr val="FFFFFF"/>
                    </a:solidFill>
                  </a:tcPr>
                </a:tc>
                <a:tc>
                  <a:txBody>
                    <a:bodyPr/>
                    <a:lstStyle/>
                    <a:p>
                      <a:pPr>
                        <a:defRPr sz="950">
                          <a:solidFill>
                            <a:srgbClr val="0F172A"/>
                          </a:solidFill>
                          <a:latin typeface="Arial"/>
                        </a:defRPr>
                      </a:pPr>
                      <a:r>
                        <a:t>19,800,000</a:t>
                      </a:r>
                    </a:p>
                  </a:txBody>
                  <a:tcPr>
                    <a:solidFill>
                      <a:srgbClr val="FFFFFF"/>
                    </a:solidFill>
                  </a:tcPr>
                </a:tc>
              </a:tr>
              <a:tr h="594360">
                <a:tc>
                  <a:txBody>
                    <a:bodyPr/>
                    <a:lstStyle/>
                    <a:p>
                      <a:pPr>
                        <a:defRPr sz="950">
                          <a:solidFill>
                            <a:srgbClr val="0F172A"/>
                          </a:solidFill>
                          <a:latin typeface="Arial"/>
                        </a:defRPr>
                      </a:pPr>
                      <a:r>
                        <a:t>Senior Moodle LMS Engineer</a:t>
                      </a:r>
                    </a:p>
                  </a:txBody>
                  <a:tcPr>
                    <a:solidFill>
                      <a:srgbClr val="F0F9FF"/>
                    </a:solidFill>
                  </a:tcPr>
                </a:tc>
                <a:tc>
                  <a:txBody>
                    <a:bodyPr/>
                    <a:lstStyle/>
                    <a:p>
                      <a:pPr>
                        <a:defRPr sz="950">
                          <a:solidFill>
                            <a:srgbClr val="0F172A"/>
                          </a:solidFill>
                          <a:latin typeface="Arial"/>
                        </a:defRPr>
                      </a:pPr>
                      <a:r>
                        <a:t>32</a:t>
                      </a:r>
                    </a:p>
                  </a:txBody>
                  <a:tcPr>
                    <a:solidFill>
                      <a:srgbClr val="F0F9FF"/>
                    </a:solidFill>
                  </a:tcPr>
                </a:tc>
                <a:tc>
                  <a:txBody>
                    <a:bodyPr/>
                    <a:lstStyle/>
                    <a:p>
                      <a:pPr>
                        <a:defRPr sz="950">
                          <a:solidFill>
                            <a:srgbClr val="334155"/>
                          </a:solidFill>
                          <a:latin typeface="Arial"/>
                        </a:defRPr>
                      </a:pPr>
                      <a:r>
                        <a:t>Core setup, custom PBZ theme development, custom BOT reporting plugin</a:t>
                      </a:r>
                    </a:p>
                  </a:txBody>
                  <a:tcPr>
                    <a:solidFill>
                      <a:srgbClr val="F0F9FF"/>
                    </a:solidFill>
                  </a:tcPr>
                </a:tc>
                <a:tc>
                  <a:txBody>
                    <a:bodyPr/>
                    <a:lstStyle/>
                    <a:p>
                      <a:pPr>
                        <a:defRPr sz="950">
                          <a:solidFill>
                            <a:srgbClr val="0F172A"/>
                          </a:solidFill>
                          <a:latin typeface="Arial"/>
                        </a:defRPr>
                      </a:pPr>
                      <a:r>
                        <a:t>850,000</a:t>
                      </a:r>
                    </a:p>
                  </a:txBody>
                  <a:tcPr>
                    <a:solidFill>
                      <a:srgbClr val="F0F9FF"/>
                    </a:solidFill>
                  </a:tcPr>
                </a:tc>
                <a:tc>
                  <a:txBody>
                    <a:bodyPr/>
                    <a:lstStyle/>
                    <a:p>
                      <a:pPr>
                        <a:defRPr sz="950">
                          <a:solidFill>
                            <a:srgbClr val="0F172A"/>
                          </a:solidFill>
                          <a:latin typeface="Arial"/>
                        </a:defRPr>
                      </a:pPr>
                      <a:r>
                        <a:t>27,200,000</a:t>
                      </a:r>
                    </a:p>
                  </a:txBody>
                  <a:tcPr>
                    <a:solidFill>
                      <a:srgbClr val="F0F9FF"/>
                    </a:solidFill>
                  </a:tcPr>
                </a:tc>
              </a:tr>
              <a:tr h="594360">
                <a:tc>
                  <a:txBody>
                    <a:bodyPr/>
                    <a:lstStyle/>
                    <a:p>
                      <a:pPr>
                        <a:defRPr sz="950">
                          <a:solidFill>
                            <a:srgbClr val="0F172A"/>
                          </a:solidFill>
                          <a:latin typeface="Arial"/>
                        </a:defRPr>
                      </a:pPr>
                      <a:r>
                        <a:t>Integration &amp; Security Specialist</a:t>
                      </a:r>
                    </a:p>
                  </a:txBody>
                  <a:tcPr>
                    <a:solidFill>
                      <a:srgbClr val="FFFFFF"/>
                    </a:solidFill>
                  </a:tcPr>
                </a:tc>
                <a:tc>
                  <a:txBody>
                    <a:bodyPr/>
                    <a:lstStyle/>
                    <a:p>
                      <a:pPr>
                        <a:defRPr sz="950">
                          <a:solidFill>
                            <a:srgbClr val="0F172A"/>
                          </a:solidFill>
                          <a:latin typeface="Arial"/>
                        </a:defRPr>
                      </a:pPr>
                      <a:r>
                        <a:t>20</a:t>
                      </a:r>
                    </a:p>
                  </a:txBody>
                  <a:tcPr>
                    <a:solidFill>
                      <a:srgbClr val="FFFFFF"/>
                    </a:solidFill>
                  </a:tcPr>
                </a:tc>
                <a:tc>
                  <a:txBody>
                    <a:bodyPr/>
                    <a:lstStyle/>
                    <a:p>
                      <a:pPr>
                        <a:defRPr sz="950">
                          <a:solidFill>
                            <a:srgbClr val="334155"/>
                          </a:solidFill>
                          <a:latin typeface="Arial"/>
                        </a:defRPr>
                      </a:pPr>
                      <a:r>
                        <a:t>Active Directory / SAML SSO integration, TLS hardening, load testing</a:t>
                      </a:r>
                    </a:p>
                  </a:txBody>
                  <a:tcPr>
                    <a:solidFill>
                      <a:srgbClr val="FFFFFF"/>
                    </a:solidFill>
                  </a:tcPr>
                </a:tc>
                <a:tc>
                  <a:txBody>
                    <a:bodyPr/>
                    <a:lstStyle/>
                    <a:p>
                      <a:pPr>
                        <a:defRPr sz="950">
                          <a:solidFill>
                            <a:srgbClr val="0F172A"/>
                          </a:solidFill>
                          <a:latin typeface="Arial"/>
                        </a:defRPr>
                      </a:pPr>
                      <a:r>
                        <a:t>950,000</a:t>
                      </a:r>
                    </a:p>
                  </a:txBody>
                  <a:tcPr>
                    <a:solidFill>
                      <a:srgbClr val="FFFFFF"/>
                    </a:solidFill>
                  </a:tcPr>
                </a:tc>
                <a:tc>
                  <a:txBody>
                    <a:bodyPr/>
                    <a:lstStyle/>
                    <a:p>
                      <a:pPr>
                        <a:defRPr sz="950">
                          <a:solidFill>
                            <a:srgbClr val="0F172A"/>
                          </a:solidFill>
                          <a:latin typeface="Arial"/>
                        </a:defRPr>
                      </a:pPr>
                      <a:r>
                        <a:t>19,000,000</a:t>
                      </a:r>
                    </a:p>
                  </a:txBody>
                  <a:tcPr>
                    <a:solidFill>
                      <a:srgbClr val="FFFFFF"/>
                    </a:solidFill>
                  </a:tcPr>
                </a:tc>
              </a:tr>
              <a:tr h="594360">
                <a:tc>
                  <a:txBody>
                    <a:bodyPr/>
                    <a:lstStyle/>
                    <a:p>
                      <a:pPr>
                        <a:defRPr sz="950">
                          <a:solidFill>
                            <a:srgbClr val="0F172A"/>
                          </a:solidFill>
                          <a:latin typeface="Arial"/>
                        </a:defRPr>
                      </a:pPr>
                      <a:r>
                        <a:t>Banking Instructional Designer</a:t>
                      </a:r>
                    </a:p>
                  </a:txBody>
                  <a:tcPr>
                    <a:solidFill>
                      <a:srgbClr val="F0F9FF"/>
                    </a:solidFill>
                  </a:tcPr>
                </a:tc>
                <a:tc>
                  <a:txBody>
                    <a:bodyPr/>
                    <a:lstStyle/>
                    <a:p>
                      <a:pPr>
                        <a:defRPr sz="950">
                          <a:solidFill>
                            <a:srgbClr val="0F172A"/>
                          </a:solidFill>
                          <a:latin typeface="Arial"/>
                        </a:defRPr>
                      </a:pPr>
                      <a:r>
                        <a:t>22</a:t>
                      </a:r>
                    </a:p>
                  </a:txBody>
                  <a:tcPr>
                    <a:solidFill>
                      <a:srgbClr val="F0F9FF"/>
                    </a:solidFill>
                  </a:tcPr>
                </a:tc>
                <a:tc>
                  <a:txBody>
                    <a:bodyPr/>
                    <a:lstStyle/>
                    <a:p>
                      <a:pPr>
                        <a:defRPr sz="950">
                          <a:solidFill>
                            <a:srgbClr val="334155"/>
                          </a:solidFill>
                          <a:latin typeface="Arial"/>
                        </a:defRPr>
                      </a:pPr>
                      <a:r>
                        <a:t>Interactive SCORM/H5P modules (AML/CFT, Cyber Hygiene, Amana)</a:t>
                      </a:r>
                    </a:p>
                  </a:txBody>
                  <a:tcPr>
                    <a:solidFill>
                      <a:srgbClr val="F0F9FF"/>
                    </a:solidFill>
                  </a:tcPr>
                </a:tc>
                <a:tc>
                  <a:txBody>
                    <a:bodyPr/>
                    <a:lstStyle/>
                    <a:p>
                      <a:pPr>
                        <a:defRPr sz="950">
                          <a:solidFill>
                            <a:srgbClr val="0F172A"/>
                          </a:solidFill>
                          <a:latin typeface="Arial"/>
                        </a:defRPr>
                      </a:pPr>
                      <a:r>
                        <a:t>750,000</a:t>
                      </a:r>
                    </a:p>
                  </a:txBody>
                  <a:tcPr>
                    <a:solidFill>
                      <a:srgbClr val="F0F9FF"/>
                    </a:solidFill>
                  </a:tcPr>
                </a:tc>
                <a:tc>
                  <a:txBody>
                    <a:bodyPr/>
                    <a:lstStyle/>
                    <a:p>
                      <a:pPr>
                        <a:defRPr sz="950">
                          <a:solidFill>
                            <a:srgbClr val="0F172A"/>
                          </a:solidFill>
                          <a:latin typeface="Arial"/>
                        </a:defRPr>
                      </a:pPr>
                      <a:r>
                        <a:t>16,500,000</a:t>
                      </a:r>
                    </a:p>
                  </a:txBody>
                  <a:tcPr>
                    <a:solidFill>
                      <a:srgbClr val="F0F9FF"/>
                    </a:solidFill>
                  </a:tcPr>
                </a:tc>
              </a:tr>
              <a:tr h="594360">
                <a:tc>
                  <a:txBody>
                    <a:bodyPr/>
                    <a:lstStyle/>
                    <a:p>
                      <a:pPr>
                        <a:defRPr sz="950">
                          <a:solidFill>
                            <a:srgbClr val="0F172A"/>
                          </a:solidFill>
                          <a:latin typeface="Arial"/>
                        </a:defRPr>
                      </a:pPr>
                      <a:r>
                        <a:t>Quality Assurance &amp; UAT Lead</a:t>
                      </a:r>
                    </a:p>
                  </a:txBody>
                  <a:tcPr>
                    <a:solidFill>
                      <a:srgbClr val="FFFFFF"/>
                    </a:solidFill>
                  </a:tcPr>
                </a:tc>
                <a:tc>
                  <a:txBody>
                    <a:bodyPr/>
                    <a:lstStyle/>
                    <a:p>
                      <a:pPr>
                        <a:defRPr sz="950">
                          <a:solidFill>
                            <a:srgbClr val="0F172A"/>
                          </a:solidFill>
                          <a:latin typeface="Arial"/>
                        </a:defRPr>
                      </a:pPr>
                      <a:r>
                        <a:t>14</a:t>
                      </a:r>
                    </a:p>
                  </a:txBody>
                  <a:tcPr>
                    <a:solidFill>
                      <a:srgbClr val="FFFFFF"/>
                    </a:solidFill>
                  </a:tcPr>
                </a:tc>
                <a:tc>
                  <a:txBody>
                    <a:bodyPr/>
                    <a:lstStyle/>
                    <a:p>
                      <a:pPr>
                        <a:defRPr sz="950">
                          <a:solidFill>
                            <a:srgbClr val="334155"/>
                          </a:solidFill>
                          <a:latin typeface="Arial"/>
                        </a:defRPr>
                      </a:pPr>
                      <a:r>
                        <a:t>Automated test scripts, cross-branch latency validation, UAT coordination</a:t>
                      </a:r>
                    </a:p>
                  </a:txBody>
                  <a:tcPr>
                    <a:solidFill>
                      <a:srgbClr val="FFFFFF"/>
                    </a:solidFill>
                  </a:tcPr>
                </a:tc>
                <a:tc>
                  <a:txBody>
                    <a:bodyPr/>
                    <a:lstStyle/>
                    <a:p>
                      <a:pPr>
                        <a:defRPr sz="950">
                          <a:solidFill>
                            <a:srgbClr val="0F172A"/>
                          </a:solidFill>
                          <a:latin typeface="Arial"/>
                        </a:defRPr>
                      </a:pPr>
                      <a:r>
                        <a:t>700,000</a:t>
                      </a:r>
                    </a:p>
                  </a:txBody>
                  <a:tcPr>
                    <a:solidFill>
                      <a:srgbClr val="FFFFFF"/>
                    </a:solidFill>
                  </a:tcPr>
                </a:tc>
                <a:tc>
                  <a:txBody>
                    <a:bodyPr/>
                    <a:lstStyle/>
                    <a:p>
                      <a:pPr>
                        <a:defRPr sz="950">
                          <a:solidFill>
                            <a:srgbClr val="0F172A"/>
                          </a:solidFill>
                          <a:latin typeface="Arial"/>
                        </a:defRPr>
                      </a:pPr>
                      <a:r>
                        <a:t>9,800,000</a:t>
                      </a:r>
                    </a:p>
                  </a:txBody>
                  <a:tcPr>
                    <a:solidFill>
                      <a:srgbClr val="FFFFFF"/>
                    </a:solidFill>
                  </a:tcPr>
                </a:tc>
              </a:tr>
              <a:tr h="594360">
                <a:tc>
                  <a:txBody>
                    <a:bodyPr/>
                    <a:lstStyle/>
                    <a:p>
                      <a:pPr>
                        <a:defRPr sz="950">
                          <a:solidFill>
                            <a:srgbClr val="0F172A"/>
                          </a:solidFill>
                          <a:latin typeface="Arial"/>
                        </a:defRPr>
                      </a:pPr>
                      <a:r>
                        <a:t>LMS Training Specialist</a:t>
                      </a:r>
                    </a:p>
                  </a:txBody>
                  <a:tcPr>
                    <a:solidFill>
                      <a:srgbClr val="F0F9FF"/>
                    </a:solidFill>
                  </a:tcPr>
                </a:tc>
                <a:tc>
                  <a:txBody>
                    <a:bodyPr/>
                    <a:lstStyle/>
                    <a:p>
                      <a:pPr>
                        <a:defRPr sz="950">
                          <a:solidFill>
                            <a:srgbClr val="0F172A"/>
                          </a:solidFill>
                          <a:latin typeface="Arial"/>
                        </a:defRPr>
                      </a:pPr>
                      <a:r>
                        <a:t>12</a:t>
                      </a:r>
                    </a:p>
                  </a:txBody>
                  <a:tcPr>
                    <a:solidFill>
                      <a:srgbClr val="F0F9FF"/>
                    </a:solidFill>
                  </a:tcPr>
                </a:tc>
                <a:tc>
                  <a:txBody>
                    <a:bodyPr/>
                    <a:lstStyle/>
                    <a:p>
                      <a:pPr>
                        <a:defRPr sz="950">
                          <a:solidFill>
                            <a:srgbClr val="334155"/>
                          </a:solidFill>
                          <a:latin typeface="Arial"/>
                        </a:defRPr>
                      </a:pPr>
                      <a:r>
                        <a:t>Train-the-Trainer workshops, PBZ IT handover, documentation &amp; SOPs</a:t>
                      </a:r>
                    </a:p>
                  </a:txBody>
                  <a:tcPr>
                    <a:solidFill>
                      <a:srgbClr val="F0F9FF"/>
                    </a:solidFill>
                  </a:tcPr>
                </a:tc>
                <a:tc>
                  <a:txBody>
                    <a:bodyPr/>
                    <a:lstStyle/>
                    <a:p>
                      <a:pPr>
                        <a:defRPr sz="950">
                          <a:solidFill>
                            <a:srgbClr val="0F172A"/>
                          </a:solidFill>
                          <a:latin typeface="Arial"/>
                        </a:defRPr>
                      </a:pPr>
                      <a:r>
                        <a:t>650,000</a:t>
                      </a:r>
                    </a:p>
                  </a:txBody>
                  <a:tcPr>
                    <a:solidFill>
                      <a:srgbClr val="F0F9FF"/>
                    </a:solidFill>
                  </a:tcPr>
                </a:tc>
                <a:tc>
                  <a:txBody>
                    <a:bodyPr/>
                    <a:lstStyle/>
                    <a:p>
                      <a:pPr>
                        <a:defRPr sz="950">
                          <a:solidFill>
                            <a:srgbClr val="0F172A"/>
                          </a:solidFill>
                          <a:latin typeface="Arial"/>
                        </a:defRPr>
                      </a:pPr>
                      <a:r>
                        <a:t>7,800,000</a:t>
                      </a:r>
                    </a:p>
                  </a:txBody>
                  <a:tcPr>
                    <a:solidFill>
                      <a:srgbClr val="F0F9FF"/>
                    </a:solidFill>
                  </a:tcPr>
                </a:tc>
              </a:tr>
              <a:tr h="594360">
                <a:tc>
                  <a:txBody>
                    <a:bodyPr/>
                    <a:lstStyle/>
                    <a:p>
                      <a:pPr>
                        <a:defRPr b="1" sz="1100">
                          <a:solidFill>
                            <a:srgbClr val="006837"/>
                          </a:solidFill>
                          <a:latin typeface="Arial"/>
                        </a:defRPr>
                      </a:pPr>
                      <a:r>
                        <a:t>TOTAL PROFESSIONAL INVESTMENT</a:t>
                      </a:r>
                    </a:p>
                  </a:txBody>
                  <a:tcPr>
                    <a:solidFill>
                      <a:srgbClr val="F0FDF4"/>
                    </a:solidFill>
                  </a:tcPr>
                </a:tc>
                <a:tc>
                  <a:txBody>
                    <a:bodyPr/>
                    <a:lstStyle/>
                    <a:p>
                      <a:pPr>
                        <a:defRPr b="1" sz="1100">
                          <a:solidFill>
                            <a:srgbClr val="006837"/>
                          </a:solidFill>
                          <a:latin typeface="Arial"/>
                        </a:defRPr>
                      </a:pPr>
                      <a:r>
                        <a:t>118 Days</a:t>
                      </a:r>
                    </a:p>
                  </a:txBody>
                  <a:tcPr>
                    <a:solidFill>
                      <a:srgbClr val="F0FDF4"/>
                    </a:solidFill>
                  </a:tcPr>
                </a:tc>
                <a:tc>
                  <a:txBody>
                    <a:bodyPr/>
                    <a:lstStyle/>
                    <a:p>
                      <a:pPr>
                        <a:defRPr b="1" sz="1100">
                          <a:solidFill>
                            <a:srgbClr val="006837"/>
                          </a:solidFill>
                          <a:latin typeface="Arial"/>
                        </a:defRPr>
                      </a:pPr>
                      <a:r>
                        <a:t>Turnkey Implementation, Customization, Content &amp; Handover</a:t>
                      </a:r>
                    </a:p>
                  </a:txBody>
                  <a:tcPr>
                    <a:solidFill>
                      <a:srgbClr val="F0FDF4"/>
                    </a:solidFill>
                  </a:tcPr>
                </a:tc>
                <a:tc>
                  <a:txBody>
                    <a:bodyPr/>
                    <a:lstStyle/>
                    <a:p>
                      <a:pPr>
                        <a:defRPr b="1" sz="1100">
                          <a:solidFill>
                            <a:srgbClr val="006837"/>
                          </a:solidFill>
                          <a:latin typeface="Arial"/>
                        </a:defRPr>
                      </a:pPr>
                      <a:r>
                        <a:t>—</a:t>
                      </a:r>
                    </a:p>
                  </a:txBody>
                  <a:tcPr>
                    <a:solidFill>
                      <a:srgbClr val="F0FDF4"/>
                    </a:solidFill>
                  </a:tcPr>
                </a:tc>
                <a:tc>
                  <a:txBody>
                    <a:bodyPr/>
                    <a:lstStyle/>
                    <a:p>
                      <a:pPr>
                        <a:defRPr b="1" sz="1100">
                          <a:solidFill>
                            <a:srgbClr val="006837"/>
                          </a:solidFill>
                          <a:latin typeface="Arial"/>
                        </a:defRPr>
                      </a:pPr>
                      <a:r>
                        <a:t>100,100,000 TZS</a:t>
                      </a:r>
                    </a:p>
                  </a:txBody>
                  <a:tcPr>
                    <a:solidFill>
                      <a:srgbClr val="F0FDF4"/>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Commercial Proposal &amp; Resourcing: 3-Year TCO vs Commercial SaaS (&gt;450M TZS Savings)</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graphicFrame>
        <p:nvGraphicFramePr>
          <p:cNvPr id="9" name="Table 8"/>
          <p:cNvGraphicFramePr>
            <a:graphicFrameLocks noGrp="1"/>
          </p:cNvGraphicFramePr>
          <p:nvPr/>
        </p:nvGraphicFramePr>
        <p:xfrm>
          <a:off x="731520" y="1463040"/>
          <a:ext cx="10652760" cy="3108960"/>
        </p:xfrm>
        <a:graphic>
          <a:graphicData uri="http://schemas.openxmlformats.org/drawingml/2006/table">
            <a:tbl>
              <a:tblPr firstRow="1" bandRow="1">
                <a:tableStyleId>{5C22544A-7EE6-4342-B048-85BDC9FD1C3A}</a:tableStyleId>
              </a:tblPr>
              <a:tblGrid>
                <a:gridCol w="2423160"/>
                <a:gridCol w="3017520"/>
                <a:gridCol w="2743200"/>
                <a:gridCol w="2468880"/>
              </a:tblGrid>
              <a:tr h="621792">
                <a:tc>
                  <a:txBody>
                    <a:bodyPr/>
                    <a:lstStyle/>
                    <a:p>
                      <a:pPr>
                        <a:defRPr b="1" sz="1100">
                          <a:solidFill>
                            <a:srgbClr val="FFFFFF"/>
                          </a:solidFill>
                          <a:latin typeface="Arial"/>
                        </a:defRPr>
                      </a:pPr>
                      <a:r>
                        <a:t>Cost Item</a:t>
                      </a:r>
                    </a:p>
                  </a:txBody>
                  <a:tcPr>
                    <a:solidFill>
                      <a:srgbClr val="006837"/>
                    </a:solidFill>
                  </a:tcPr>
                </a:tc>
                <a:tc>
                  <a:txBody>
                    <a:bodyPr/>
                    <a:lstStyle/>
                    <a:p>
                      <a:pPr>
                        <a:defRPr b="1" sz="1100">
                          <a:solidFill>
                            <a:srgbClr val="FFFFFF"/>
                          </a:solidFill>
                          <a:latin typeface="Arial"/>
                        </a:defRPr>
                      </a:pPr>
                      <a:r>
                        <a:t>Commercial SaaS (Cornerstone / SAP)</a:t>
                      </a:r>
                    </a:p>
                  </a:txBody>
                  <a:tcPr>
                    <a:solidFill>
                      <a:srgbClr val="006837"/>
                    </a:solidFill>
                  </a:tcPr>
                </a:tc>
                <a:tc>
                  <a:txBody>
                    <a:bodyPr/>
                    <a:lstStyle/>
                    <a:p>
                      <a:pPr>
                        <a:defRPr b="1" sz="1100">
                          <a:solidFill>
                            <a:srgbClr val="FFFFFF"/>
                          </a:solidFill>
                          <a:latin typeface="Arial"/>
                        </a:defRPr>
                      </a:pPr>
                      <a:r>
                        <a:t>Proposed PBZ Enterprise Moodle</a:t>
                      </a:r>
                    </a:p>
                  </a:txBody>
                  <a:tcPr>
                    <a:solidFill>
                      <a:srgbClr val="006837"/>
                    </a:solidFill>
                  </a:tcPr>
                </a:tc>
                <a:tc>
                  <a:txBody>
                    <a:bodyPr/>
                    <a:lstStyle/>
                    <a:p>
                      <a:pPr>
                        <a:defRPr b="1" sz="1100">
                          <a:solidFill>
                            <a:srgbClr val="FFFFFF"/>
                          </a:solidFill>
                          <a:latin typeface="Arial"/>
                        </a:defRPr>
                      </a:pPr>
                      <a:r>
                        <a:t>Net Savings to PBZ</a:t>
                      </a:r>
                    </a:p>
                  </a:txBody>
                  <a:tcPr>
                    <a:solidFill>
                      <a:srgbClr val="006837"/>
                    </a:solidFill>
                  </a:tcPr>
                </a:tc>
              </a:tr>
              <a:tr h="621792">
                <a:tc>
                  <a:txBody>
                    <a:bodyPr/>
                    <a:lstStyle/>
                    <a:p>
                      <a:pPr>
                        <a:defRPr sz="1050">
                          <a:solidFill>
                            <a:srgbClr val="0F172A"/>
                          </a:solidFill>
                          <a:latin typeface="Arial"/>
                        </a:defRPr>
                      </a:pPr>
                      <a:r>
                        <a:t>Year 1 Implementation</a:t>
                      </a:r>
                    </a:p>
                  </a:txBody>
                  <a:tcPr>
                    <a:solidFill>
                      <a:srgbClr val="FFFFFF"/>
                    </a:solidFill>
                  </a:tcPr>
                </a:tc>
                <a:tc>
                  <a:txBody>
                    <a:bodyPr/>
                    <a:lstStyle/>
                    <a:p>
                      <a:pPr>
                        <a:defRPr sz="1050">
                          <a:solidFill>
                            <a:srgbClr val="0F172A"/>
                          </a:solidFill>
                          <a:latin typeface="Arial"/>
                        </a:defRPr>
                      </a:pPr>
                      <a:r>
                        <a:t>$25,000 USD (Setup) + $62,000 USD (Lic.)</a:t>
                      </a:r>
                    </a:p>
                  </a:txBody>
                  <a:tcPr>
                    <a:solidFill>
                      <a:srgbClr val="FFFFFF"/>
                    </a:solidFill>
                  </a:tcPr>
                </a:tc>
                <a:tc>
                  <a:txBody>
                    <a:bodyPr/>
                    <a:lstStyle/>
                    <a:p>
                      <a:pPr>
                        <a:defRPr sz="1050">
                          <a:solidFill>
                            <a:srgbClr val="0F172A"/>
                          </a:solidFill>
                          <a:latin typeface="Arial"/>
                        </a:defRPr>
                      </a:pPr>
                      <a:r>
                        <a:t>$38,200 USD (All-Inclusive)</a:t>
                      </a:r>
                    </a:p>
                  </a:txBody>
                  <a:tcPr>
                    <a:solidFill>
                      <a:srgbClr val="FFFFFF"/>
                    </a:solidFill>
                  </a:tcPr>
                </a:tc>
                <a:tc>
                  <a:txBody>
                    <a:bodyPr/>
                    <a:lstStyle/>
                    <a:p>
                      <a:pPr>
                        <a:defRPr sz="1050">
                          <a:solidFill>
                            <a:srgbClr val="0F172A"/>
                          </a:solidFill>
                          <a:latin typeface="Arial"/>
                        </a:defRPr>
                      </a:pPr>
                      <a:r>
                        <a:t>+$48,800 USD Savings</a:t>
                      </a:r>
                    </a:p>
                  </a:txBody>
                  <a:tcPr>
                    <a:solidFill>
                      <a:srgbClr val="FFFFFF"/>
                    </a:solidFill>
                  </a:tcPr>
                </a:tc>
              </a:tr>
              <a:tr h="621792">
                <a:tc>
                  <a:txBody>
                    <a:bodyPr/>
                    <a:lstStyle/>
                    <a:p>
                      <a:pPr>
                        <a:defRPr sz="1050">
                          <a:solidFill>
                            <a:srgbClr val="0F172A"/>
                          </a:solidFill>
                          <a:latin typeface="Arial"/>
                        </a:defRPr>
                      </a:pPr>
                      <a:r>
                        <a:t>Year 2 Licensing</a:t>
                      </a:r>
                    </a:p>
                  </a:txBody>
                  <a:tcPr>
                    <a:solidFill>
                      <a:srgbClr val="F0F9FF"/>
                    </a:solidFill>
                  </a:tcPr>
                </a:tc>
                <a:tc>
                  <a:txBody>
                    <a:bodyPr/>
                    <a:lstStyle/>
                    <a:p>
                      <a:pPr>
                        <a:defRPr sz="1050">
                          <a:solidFill>
                            <a:srgbClr val="0F172A"/>
                          </a:solidFill>
                          <a:latin typeface="Arial"/>
                        </a:defRPr>
                      </a:pPr>
                      <a:r>
                        <a:t>$62,000 USD (Perpetual Recurring)</a:t>
                      </a:r>
                    </a:p>
                  </a:txBody>
                  <a:tcPr>
                    <a:solidFill>
                      <a:srgbClr val="F0F9FF"/>
                    </a:solidFill>
                  </a:tcPr>
                </a:tc>
                <a:tc>
                  <a:txBody>
                    <a:bodyPr/>
                    <a:lstStyle/>
                    <a:p>
                      <a:pPr>
                        <a:defRPr sz="1050">
                          <a:solidFill>
                            <a:srgbClr val="0F172A"/>
                          </a:solidFill>
                          <a:latin typeface="Arial"/>
                        </a:defRPr>
                      </a:pPr>
                      <a:r>
                        <a:t>$0 USD (Zero Core License)</a:t>
                      </a:r>
                    </a:p>
                  </a:txBody>
                  <a:tcPr>
                    <a:solidFill>
                      <a:srgbClr val="F0F9FF"/>
                    </a:solidFill>
                  </a:tcPr>
                </a:tc>
                <a:tc>
                  <a:txBody>
                    <a:bodyPr/>
                    <a:lstStyle/>
                    <a:p>
                      <a:pPr>
                        <a:defRPr sz="1050">
                          <a:solidFill>
                            <a:srgbClr val="0F172A"/>
                          </a:solidFill>
                          <a:latin typeface="Arial"/>
                        </a:defRPr>
                      </a:pPr>
                      <a:r>
                        <a:t>+$62,000 USD Savings</a:t>
                      </a:r>
                    </a:p>
                  </a:txBody>
                  <a:tcPr>
                    <a:solidFill>
                      <a:srgbClr val="F0F9FF"/>
                    </a:solidFill>
                  </a:tcPr>
                </a:tc>
              </a:tr>
              <a:tr h="621792">
                <a:tc>
                  <a:txBody>
                    <a:bodyPr/>
                    <a:lstStyle/>
                    <a:p>
                      <a:pPr>
                        <a:defRPr sz="1050">
                          <a:solidFill>
                            <a:srgbClr val="0F172A"/>
                          </a:solidFill>
                          <a:latin typeface="Arial"/>
                        </a:defRPr>
                      </a:pPr>
                      <a:r>
                        <a:t>Year 3 Licensing</a:t>
                      </a:r>
                    </a:p>
                  </a:txBody>
                  <a:tcPr>
                    <a:solidFill>
                      <a:srgbClr val="FFFFFF"/>
                    </a:solidFill>
                  </a:tcPr>
                </a:tc>
                <a:tc>
                  <a:txBody>
                    <a:bodyPr/>
                    <a:lstStyle/>
                    <a:p>
                      <a:pPr>
                        <a:defRPr sz="1050">
                          <a:solidFill>
                            <a:srgbClr val="0F172A"/>
                          </a:solidFill>
                          <a:latin typeface="Arial"/>
                        </a:defRPr>
                      </a:pPr>
                      <a:r>
                        <a:t>$62,000 USD (Perpetual Recurring)</a:t>
                      </a:r>
                    </a:p>
                  </a:txBody>
                  <a:tcPr>
                    <a:solidFill>
                      <a:srgbClr val="FFFFFF"/>
                    </a:solidFill>
                  </a:tcPr>
                </a:tc>
                <a:tc>
                  <a:txBody>
                    <a:bodyPr/>
                    <a:lstStyle/>
                    <a:p>
                      <a:pPr>
                        <a:defRPr sz="1050">
                          <a:solidFill>
                            <a:srgbClr val="0F172A"/>
                          </a:solidFill>
                          <a:latin typeface="Arial"/>
                        </a:defRPr>
                      </a:pPr>
                      <a:r>
                        <a:t>$0 USD (Zero Core License)</a:t>
                      </a:r>
                    </a:p>
                  </a:txBody>
                  <a:tcPr>
                    <a:solidFill>
                      <a:srgbClr val="FFFFFF"/>
                    </a:solidFill>
                  </a:tcPr>
                </a:tc>
                <a:tc>
                  <a:txBody>
                    <a:bodyPr/>
                    <a:lstStyle/>
                    <a:p>
                      <a:pPr>
                        <a:defRPr sz="1050">
                          <a:solidFill>
                            <a:srgbClr val="0F172A"/>
                          </a:solidFill>
                          <a:latin typeface="Arial"/>
                        </a:defRPr>
                      </a:pPr>
                      <a:r>
                        <a:t>+$62,000 USD Savings</a:t>
                      </a:r>
                    </a:p>
                  </a:txBody>
                  <a:tcPr>
                    <a:solidFill>
                      <a:srgbClr val="FFFFFF"/>
                    </a:solidFill>
                  </a:tcPr>
                </a:tc>
              </a:tr>
              <a:tr h="621792">
                <a:tc>
                  <a:txBody>
                    <a:bodyPr/>
                    <a:lstStyle/>
                    <a:p>
                      <a:pPr>
                        <a:defRPr b="1" sz="1200">
                          <a:solidFill>
                            <a:srgbClr val="006837"/>
                          </a:solidFill>
                          <a:latin typeface="Arial"/>
                        </a:defRPr>
                      </a:pPr>
                      <a:r>
                        <a:t>3-YEAR TOTAL COST</a:t>
                      </a:r>
                    </a:p>
                  </a:txBody>
                  <a:tcPr>
                    <a:solidFill>
                      <a:srgbClr val="F0FDF4"/>
                    </a:solidFill>
                  </a:tcPr>
                </a:tc>
                <a:tc>
                  <a:txBody>
                    <a:bodyPr/>
                    <a:lstStyle/>
                    <a:p>
                      <a:pPr>
                        <a:defRPr b="1" sz="1200">
                          <a:solidFill>
                            <a:srgbClr val="006837"/>
                          </a:solidFill>
                          <a:latin typeface="Arial"/>
                        </a:defRPr>
                      </a:pPr>
                      <a:r>
                        <a:t>$211,000 USD (~550,000,000 TZS)</a:t>
                      </a:r>
                    </a:p>
                  </a:txBody>
                  <a:tcPr>
                    <a:solidFill>
                      <a:srgbClr val="F0FDF4"/>
                    </a:solidFill>
                  </a:tcPr>
                </a:tc>
                <a:tc>
                  <a:txBody>
                    <a:bodyPr/>
                    <a:lstStyle/>
                    <a:p>
                      <a:pPr>
                        <a:defRPr b="1" sz="1200">
                          <a:solidFill>
                            <a:srgbClr val="006837"/>
                          </a:solidFill>
                          <a:latin typeface="Arial"/>
                        </a:defRPr>
                      </a:pPr>
                      <a:r>
                        <a:t>$38,200 USD (~100,100,000 TZS)</a:t>
                      </a:r>
                    </a:p>
                  </a:txBody>
                  <a:tcPr>
                    <a:solidFill>
                      <a:srgbClr val="F0FDF4"/>
                    </a:solidFill>
                  </a:tcPr>
                </a:tc>
                <a:tc>
                  <a:txBody>
                    <a:bodyPr/>
                    <a:lstStyle/>
                    <a:p>
                      <a:pPr>
                        <a:defRPr b="1" sz="1200">
                          <a:solidFill>
                            <a:srgbClr val="006837"/>
                          </a:solidFill>
                          <a:latin typeface="Arial"/>
                        </a:defRPr>
                      </a:pPr>
                      <a:r>
                        <a:t>&gt;$170,000 USD (~450M TZS)</a:t>
                      </a:r>
                    </a:p>
                  </a:txBody>
                  <a:tcPr>
                    <a:solidFill>
                      <a:srgbClr val="F0FDF4"/>
                    </a:solidFill>
                  </a:tcPr>
                </a:tc>
              </a:tr>
            </a:tbl>
          </a:graphicData>
        </a:graphic>
      </p:graphicFrame>
      <p:sp>
        <p:nvSpPr>
          <p:cNvPr id="10" name="Rounded Rectangle 9"/>
          <p:cNvSpPr/>
          <p:nvPr/>
        </p:nvSpPr>
        <p:spPr>
          <a:xfrm>
            <a:off x="731520" y="4846320"/>
            <a:ext cx="10652760" cy="1463040"/>
          </a:xfrm>
          <a:prstGeom prst="roundRect">
            <a:avLst/>
          </a:prstGeom>
          <a:solidFill>
            <a:srgbClr val="F0F9FF"/>
          </a:solidFill>
          <a:ln>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937760"/>
            <a:ext cx="10287000" cy="1280160"/>
          </a:xfrm>
          <a:prstGeom prst="rect">
            <a:avLst/>
          </a:prstGeom>
          <a:noFill/>
        </p:spPr>
        <p:txBody>
          <a:bodyPr wrap="square">
            <a:spAutoFit/>
          </a:bodyPr>
          <a:lstStyle/>
          <a:p>
            <a:pPr>
              <a:defRPr sz="1300" b="1">
                <a:solidFill>
                  <a:srgbClr val="005B8E"/>
                </a:solidFill>
              </a:defRPr>
            </a:pPr>
            <a:r>
              <a:t>Financial Bottom Line for PBZ Management:</a:t>
            </a:r>
          </a:p>
          <a:p>
            <a:pPr>
              <a:defRPr sz="1050">
                <a:solidFill>
                  <a:srgbClr val="334155"/>
                </a:solidFill>
              </a:defRPr>
            </a:pPr>
            <a:r>
              <a:t>Commercial SaaS platforms bill PBZ per employee year after year, incurring over TZS 550M in 3 years with zero code ownership. The proposed open enterprise deployment is a capitalized, high-yield investment: PBZ retains 100% perpetual ownership of the platform and saves over TZS 450,000,000+ ($170,000 USD) over 3 years.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Core Component Rationale: Clarification on prototyping, content development, and ongoing support/maintenance</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463040"/>
            <a:ext cx="3429000" cy="4663440"/>
          </a:xfrm>
          <a:prstGeom prst="roundRect">
            <a:avLst/>
          </a:prstGeom>
          <a:solidFill>
            <a:srgbClr val="F0FDF4"/>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45920"/>
            <a:ext cx="3063240" cy="4297680"/>
          </a:xfrm>
          <a:prstGeom prst="rect">
            <a:avLst/>
          </a:prstGeom>
          <a:noFill/>
        </p:spPr>
        <p:txBody>
          <a:bodyPr wrap="square">
            <a:spAutoFit/>
          </a:bodyPr>
          <a:lstStyle/>
          <a:p>
            <a:pPr>
              <a:defRPr sz="1350" b="1">
                <a:solidFill>
                  <a:srgbClr val="006837"/>
                </a:solidFill>
              </a:defRPr>
            </a:pPr>
            <a:r>
              <a:t>1. Interactive Prototyping Phase</a:t>
            </a:r>
          </a:p>
          <a:p>
            <a:pPr>
              <a:defRPr sz="1000" b="1">
                <a:solidFill>
                  <a:srgbClr val="0F172A"/>
                </a:solidFill>
              </a:defRPr>
            </a:pPr>
            <a:r>
              <a:t>Eliminates End-User Adoption Risk</a:t>
            </a:r>
          </a:p>
          <a:p>
            <a:br/>
            <a:pPr>
              <a:defRPr sz="1000">
                <a:solidFill>
                  <a:srgbClr val="334155"/>
                </a:solidFill>
              </a:defRPr>
            </a:pPr>
            <a:r>
              <a:t>Delivering a clickable, interactive PBZ prototype by Week 5 allows HR, Branch Managers, and IT to test navigation, course mechanics, and reporting layouts early. De-risks the bank and prevents expensive late-stage redesigns.</a:t>
            </a:r>
          </a:p>
        </p:txBody>
      </p:sp>
      <p:sp>
        <p:nvSpPr>
          <p:cNvPr id="11" name="Rounded Rectangle 10"/>
          <p:cNvSpPr/>
          <p:nvPr/>
        </p:nvSpPr>
        <p:spPr>
          <a:xfrm>
            <a:off x="4343400" y="1463040"/>
            <a:ext cx="3429000" cy="4663440"/>
          </a:xfrm>
          <a:prstGeom prst="roundRect">
            <a:avLst/>
          </a:prstGeom>
          <a:solidFill>
            <a:srgbClr val="F0F9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645920"/>
            <a:ext cx="3063240" cy="4297680"/>
          </a:xfrm>
          <a:prstGeom prst="rect">
            <a:avLst/>
          </a:prstGeom>
          <a:noFill/>
        </p:spPr>
        <p:txBody>
          <a:bodyPr wrap="square">
            <a:spAutoFit/>
          </a:bodyPr>
          <a:lstStyle/>
          <a:p>
            <a:pPr>
              <a:defRPr sz="1350" b="1">
                <a:solidFill>
                  <a:srgbClr val="005B8E"/>
                </a:solidFill>
              </a:defRPr>
            </a:pPr>
            <a:r>
              <a:t>2. Interactive Content Development</a:t>
            </a:r>
          </a:p>
          <a:p>
            <a:pPr>
              <a:defRPr sz="1000" b="1">
                <a:solidFill>
                  <a:srgbClr val="0F172A"/>
                </a:solidFill>
              </a:defRPr>
            </a:pPr>
            <a:r>
              <a:t>Solves the Compliance Retention Deficit</a:t>
            </a:r>
          </a:p>
          <a:p>
            <a:br/>
            <a:pPr>
              <a:defRPr sz="1000">
                <a:solidFill>
                  <a:srgbClr val="334155"/>
                </a:solidFill>
              </a:defRPr>
            </a:pPr>
            <a:r>
              <a:t>Static 50-page PDFs have under 15% retention, exposing PBZ to compliance failures. We convert policies into interactive SCORM/H5P branching scenarios where staff make realistic branch decisions, yielding &gt;80% retention and verifiable audit proof.</a:t>
            </a:r>
          </a:p>
        </p:txBody>
      </p:sp>
      <p:sp>
        <p:nvSpPr>
          <p:cNvPr id="13" name="Rounded Rectangle 12"/>
          <p:cNvSpPr/>
          <p:nvPr/>
        </p:nvSpPr>
        <p:spPr>
          <a:xfrm>
            <a:off x="7955280" y="1463040"/>
            <a:ext cx="3429000" cy="4663440"/>
          </a:xfrm>
          <a:prstGeom prst="roundRect">
            <a:avLst/>
          </a:prstGeom>
          <a:solidFill>
            <a:srgbClr val="F0F9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645920"/>
            <a:ext cx="3063240" cy="4297680"/>
          </a:xfrm>
          <a:prstGeom prst="rect">
            <a:avLst/>
          </a:prstGeom>
          <a:noFill/>
        </p:spPr>
        <p:txBody>
          <a:bodyPr wrap="square">
            <a:spAutoFit/>
          </a:bodyPr>
          <a:lstStyle/>
          <a:p>
            <a:pPr>
              <a:defRPr sz="1350" b="1">
                <a:solidFill>
                  <a:srgbClr val="0088CC"/>
                </a:solidFill>
              </a:defRPr>
            </a:pPr>
            <a:r>
              <a:t>3. Ongoing Support &amp; Maintenance SLA</a:t>
            </a:r>
          </a:p>
          <a:p>
            <a:pPr>
              <a:defRPr sz="1000" b="1">
                <a:solidFill>
                  <a:srgbClr val="0F172A"/>
                </a:solidFill>
              </a:defRPr>
            </a:pPr>
            <a:r>
              <a:t>Guarantees Business Continuity &amp; BOT Uptime</a:t>
            </a:r>
          </a:p>
          <a:p>
            <a:br/>
            <a:pPr>
              <a:defRPr sz="1000">
                <a:solidFill>
                  <a:srgbClr val="334155"/>
                </a:solidFill>
              </a:defRPr>
            </a:pPr>
            <a:r>
              <a:t>Commercial banking demands strict recovery targets: Priority 1 (outage) response &lt; 1 hr, resolution &lt; 4 hrs; Priority 2 &lt; 4 hrs. Includes quarterly Moodle security patches, OS updates, and local Tanzanian engineering support.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Sustainability &amp; Knowledge Transfer: Training plans and long-term sustainability</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371600"/>
            <a:ext cx="5120640" cy="3291840"/>
          </a:xfrm>
          <a:prstGeom prst="roundRect">
            <a:avLst/>
          </a:prstGeom>
          <a:solidFill>
            <a:srgbClr val="F0F9FF"/>
          </a:solidFill>
          <a:ln>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554480"/>
            <a:ext cx="4754880" cy="2926080"/>
          </a:xfrm>
          <a:prstGeom prst="rect">
            <a:avLst/>
          </a:prstGeom>
          <a:noFill/>
        </p:spPr>
        <p:txBody>
          <a:bodyPr wrap="square">
            <a:spAutoFit/>
          </a:bodyPr>
          <a:lstStyle/>
          <a:p>
            <a:pPr>
              <a:defRPr sz="1350" b="1">
                <a:solidFill>
                  <a:srgbClr val="005B8E"/>
                </a:solidFill>
              </a:defRPr>
            </a:pPr>
            <a:r>
              <a:t>Track 1: PBZ IT &amp; Infrastructure Admins</a:t>
            </a:r>
          </a:p>
          <a:p>
            <a:pPr>
              <a:defRPr sz="1000">
                <a:solidFill>
                  <a:srgbClr val="334155"/>
                </a:solidFill>
              </a:defRPr>
            </a:pPr>
            <a:r>
              <a:t>Duration: 5 Days Intensive Hands-on Certification</a:t>
            </a:r>
            <a:br/>
            <a:br/>
            <a:r>
              <a:t>• Linux server administration &amp; PHP 8.3 performance tuning</a:t>
            </a:r>
            <a:br/>
            <a:r>
              <a:t>• PostgreSQL database cluster maintenance &amp; Wal-G backup drills</a:t>
            </a:r>
            <a:br/>
            <a:r>
              <a:t>• Redis distributed caching &amp; Moodle MUC optimization</a:t>
            </a:r>
            <a:br/>
            <a:r>
              <a:t>• Active Directory / SAML SSO sync &amp; token management</a:t>
            </a:r>
            <a:br/>
            <a:r>
              <a:t>• Security log rotation, patch cycles &amp; DR failover procedures</a:t>
            </a:r>
          </a:p>
        </p:txBody>
      </p:sp>
      <p:sp>
        <p:nvSpPr>
          <p:cNvPr id="11" name="Rounded Rectangle 10"/>
          <p:cNvSpPr/>
          <p:nvPr/>
        </p:nvSpPr>
        <p:spPr>
          <a:xfrm>
            <a:off x="6217920" y="1371600"/>
            <a:ext cx="5120640" cy="3291840"/>
          </a:xfrm>
          <a:prstGeom prst="roundRect">
            <a:avLst/>
          </a:prstGeom>
          <a:solidFill>
            <a:srgbClr val="F0FDF4"/>
          </a:solidFill>
          <a:ln>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554480"/>
            <a:ext cx="4754880" cy="2926080"/>
          </a:xfrm>
          <a:prstGeom prst="rect">
            <a:avLst/>
          </a:prstGeom>
          <a:noFill/>
        </p:spPr>
        <p:txBody>
          <a:bodyPr wrap="square">
            <a:spAutoFit/>
          </a:bodyPr>
          <a:lstStyle/>
          <a:p>
            <a:pPr>
              <a:defRPr sz="1350" b="1">
                <a:solidFill>
                  <a:srgbClr val="006837"/>
                </a:solidFill>
              </a:defRPr>
            </a:pPr>
            <a:r>
              <a:t>Track 2: PBZ HR, L&amp;D &amp; Branch Mentors</a:t>
            </a:r>
          </a:p>
          <a:p>
            <a:pPr>
              <a:defRPr sz="1000">
                <a:solidFill>
                  <a:srgbClr val="334155"/>
                </a:solidFill>
              </a:defRPr>
            </a:pPr>
            <a:r>
              <a:t>Duration: 5 Days Train-the-Trainer Certification</a:t>
            </a:r>
            <a:br/>
            <a:br/>
            <a:r>
              <a:t>• Course authoring, question banks &amp; SCORM/H5P uploads</a:t>
            </a:r>
            <a:br/>
            <a:r>
              <a:t>• Automated cohort enrollment rules by branch &amp; role</a:t>
            </a:r>
            <a:br/>
            <a:r>
              <a:t>• Generating digital certificates with verifiable cryptographic QR codes</a:t>
            </a:r>
            <a:br/>
            <a:r>
              <a:t>• Extracting &amp; scheduling official Bank of Tanzania (BOT) reports</a:t>
            </a:r>
            <a:br/>
            <a:r>
              <a:t>• Automated learner reminders &amp; gamification badges</a:t>
            </a:r>
          </a:p>
        </p:txBody>
      </p:sp>
      <p:sp>
        <p:nvSpPr>
          <p:cNvPr id="13" name="Rounded Rectangle 12"/>
          <p:cNvSpPr/>
          <p:nvPr/>
        </p:nvSpPr>
        <p:spPr>
          <a:xfrm>
            <a:off x="731520" y="4937760"/>
            <a:ext cx="10652760" cy="1371600"/>
          </a:xfrm>
          <a:prstGeom prst="roundRect">
            <a:avLst/>
          </a:prstGeom>
          <a:solidFill>
            <a:srgbClr val="FFFFFF"/>
          </a:solidFill>
          <a:ln>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029200"/>
            <a:ext cx="10287000" cy="1188720"/>
          </a:xfrm>
          <a:prstGeom prst="rect">
            <a:avLst/>
          </a:prstGeom>
          <a:noFill/>
        </p:spPr>
        <p:txBody>
          <a:bodyPr wrap="square">
            <a:spAutoFit/>
          </a:bodyPr>
          <a:lstStyle/>
          <a:p>
            <a:pPr>
              <a:defRPr sz="1200" b="1">
                <a:solidFill>
                  <a:srgbClr val="006837"/>
                </a:solidFill>
              </a:defRPr>
            </a:pPr>
            <a:r>
              <a:t>Formal Handover Deliverables:</a:t>
            </a:r>
          </a:p>
          <a:p>
            <a:pPr>
              <a:defRPr sz="950">
                <a:solidFill>
                  <a:srgbClr val="334155"/>
                </a:solidFill>
              </a:defRPr>
            </a:pPr>
            <a:r>
              <a:t>1. PBZ LMS Administrator Operations Manual (SOP covering every technical procedure)</a:t>
            </a:r>
            <a:br/>
            <a:r>
              <a:t>2. HR Course Authoring Guide &amp; Style Standards  •  3. 10+ High-Definition Training Video Walkthroughs</a:t>
            </a:r>
            <a:br/>
            <a:r>
              <a:t>4. Complete Git Source Code Repository with full commit history, configuration scripts, and Docker recipes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Project Timeline: Schedule of key milestones and overall execution roadmap</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371600"/>
            <a:ext cx="10652760" cy="621792"/>
          </a:xfrm>
          <a:prstGeom prst="roundRect">
            <a:avLst/>
          </a:prstGeom>
          <a:solidFill>
            <a:srgbClr val="FFFF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44752"/>
            <a:ext cx="10332720" cy="502920"/>
          </a:xfrm>
          <a:prstGeom prst="rect">
            <a:avLst/>
          </a:prstGeom>
          <a:noFill/>
        </p:spPr>
        <p:txBody>
          <a:bodyPr wrap="square">
            <a:spAutoFit/>
          </a:bodyPr>
          <a:lstStyle/>
          <a:p>
            <a:pPr>
              <a:defRPr sz="950">
                <a:solidFill>
                  <a:srgbClr val="0F172A"/>
                </a:solidFill>
              </a:defRPr>
            </a:pPr>
            <a:r>
              <a:t>Weeks 1–3: Phase 1 — Inception &amp; Discovery   |   Requirements, AD schema mapping, network topology sign-off   |   [Gate 1: Blueprint Sign-Off]</a:t>
            </a:r>
          </a:p>
        </p:txBody>
      </p:sp>
      <p:sp>
        <p:nvSpPr>
          <p:cNvPr id="11" name="Rounded Rectangle 10"/>
          <p:cNvSpPr/>
          <p:nvPr/>
        </p:nvSpPr>
        <p:spPr>
          <a:xfrm>
            <a:off x="731520" y="2075688"/>
            <a:ext cx="10652760" cy="621792"/>
          </a:xfrm>
          <a:prstGeom prst="roundRect">
            <a:avLst/>
          </a:prstGeom>
          <a:solidFill>
            <a:srgbClr val="FFFFFF"/>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148840"/>
            <a:ext cx="10332720" cy="502920"/>
          </a:xfrm>
          <a:prstGeom prst="rect">
            <a:avLst/>
          </a:prstGeom>
          <a:noFill/>
        </p:spPr>
        <p:txBody>
          <a:bodyPr wrap="square">
            <a:spAutoFit/>
          </a:bodyPr>
          <a:lstStyle/>
          <a:p>
            <a:pPr>
              <a:defRPr sz="950">
                <a:solidFill>
                  <a:srgbClr val="0F172A"/>
                </a:solidFill>
              </a:defRPr>
            </a:pPr>
            <a:r>
              <a:t>Weeks 4–7: Phase 2 — Prototyping &amp; Infrastructure   |   Server provisioning, HA database cluster setup, clickable prototype   |   [Gate 2: Prototype Approval (W5)]</a:t>
            </a:r>
          </a:p>
        </p:txBody>
      </p:sp>
      <p:sp>
        <p:nvSpPr>
          <p:cNvPr id="13" name="Rounded Rectangle 12"/>
          <p:cNvSpPr/>
          <p:nvPr/>
        </p:nvSpPr>
        <p:spPr>
          <a:xfrm>
            <a:off x="731520" y="2779776"/>
            <a:ext cx="10652760" cy="621792"/>
          </a:xfrm>
          <a:prstGeom prst="roundRect">
            <a:avLst/>
          </a:prstGeom>
          <a:solidFill>
            <a:srgbClr val="FFFF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2852928"/>
            <a:ext cx="10332720" cy="502920"/>
          </a:xfrm>
          <a:prstGeom prst="rect">
            <a:avLst/>
          </a:prstGeom>
          <a:noFill/>
        </p:spPr>
        <p:txBody>
          <a:bodyPr wrap="square">
            <a:spAutoFit/>
          </a:bodyPr>
          <a:lstStyle/>
          <a:p>
            <a:pPr>
              <a:defRPr sz="950">
                <a:solidFill>
                  <a:srgbClr val="0F172A"/>
                </a:solidFill>
              </a:defRPr>
            </a:pPr>
            <a:r>
              <a:t>Weeks 8–9: Phase 3a — Theming &amp; Directory Sync   |   PBZ Green/Marine UI engine, Active Directory / SAML SSO   |   [Directory Verified]</a:t>
            </a:r>
          </a:p>
        </p:txBody>
      </p:sp>
      <p:sp>
        <p:nvSpPr>
          <p:cNvPr id="15" name="Rounded Rectangle 14"/>
          <p:cNvSpPr/>
          <p:nvPr/>
        </p:nvSpPr>
        <p:spPr>
          <a:xfrm>
            <a:off x="731520" y="3483864"/>
            <a:ext cx="10652760" cy="621792"/>
          </a:xfrm>
          <a:prstGeom prst="roundRect">
            <a:avLst/>
          </a:prstGeom>
          <a:solidFill>
            <a:srgbClr val="FFFFFF"/>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557016"/>
            <a:ext cx="10332720" cy="502920"/>
          </a:xfrm>
          <a:prstGeom prst="rect">
            <a:avLst/>
          </a:prstGeom>
          <a:noFill/>
        </p:spPr>
        <p:txBody>
          <a:bodyPr wrap="square">
            <a:spAutoFit/>
          </a:bodyPr>
          <a:lstStyle/>
          <a:p>
            <a:pPr>
              <a:defRPr sz="950">
                <a:solidFill>
                  <a:srgbClr val="0F172A"/>
                </a:solidFill>
              </a:defRPr>
            </a:pPr>
            <a:r>
              <a:t>Weeks 10–11: Phase 3b — Banking Content &amp; Reporting   |   3 Pilot modules ingestion, automated BOT compliance report plugin   |   [Gate 3: Pilot Readiness]</a:t>
            </a:r>
          </a:p>
        </p:txBody>
      </p:sp>
      <p:sp>
        <p:nvSpPr>
          <p:cNvPr id="17" name="Rounded Rectangle 16"/>
          <p:cNvSpPr/>
          <p:nvPr/>
        </p:nvSpPr>
        <p:spPr>
          <a:xfrm>
            <a:off x="731520" y="4187952"/>
            <a:ext cx="10652760" cy="621792"/>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261104"/>
            <a:ext cx="10332720" cy="502920"/>
          </a:xfrm>
          <a:prstGeom prst="rect">
            <a:avLst/>
          </a:prstGeom>
          <a:noFill/>
        </p:spPr>
        <p:txBody>
          <a:bodyPr wrap="square">
            <a:spAutoFit/>
          </a:bodyPr>
          <a:lstStyle/>
          <a:p>
            <a:pPr>
              <a:defRPr sz="950">
                <a:solidFill>
                  <a:srgbClr val="0F172A"/>
                </a:solidFill>
              </a:defRPr>
            </a:pPr>
            <a:r>
              <a:t>Weeks 12–13: Phase 4 — Security Audit &amp; UAT   |   Load testing (1,000 concurrent users), pen-test fixes, formal UAT   |   [Gate 4: Security Acceptance]</a:t>
            </a:r>
          </a:p>
        </p:txBody>
      </p:sp>
      <p:sp>
        <p:nvSpPr>
          <p:cNvPr id="19" name="Rounded Rectangle 18"/>
          <p:cNvSpPr/>
          <p:nvPr/>
        </p:nvSpPr>
        <p:spPr>
          <a:xfrm>
            <a:off x="731520" y="4892040"/>
            <a:ext cx="10652760" cy="621792"/>
          </a:xfrm>
          <a:prstGeom prst="roundRect">
            <a:avLst/>
          </a:prstGeom>
          <a:solidFill>
            <a:srgbClr val="FFFFFF"/>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965192"/>
            <a:ext cx="10332720" cy="502920"/>
          </a:xfrm>
          <a:prstGeom prst="rect">
            <a:avLst/>
          </a:prstGeom>
          <a:noFill/>
        </p:spPr>
        <p:txBody>
          <a:bodyPr wrap="square">
            <a:spAutoFit/>
          </a:bodyPr>
          <a:lstStyle/>
          <a:p>
            <a:pPr>
              <a:defRPr sz="950">
                <a:solidFill>
                  <a:srgbClr val="0F172A"/>
                </a:solidFill>
              </a:defRPr>
            </a:pPr>
            <a:r>
              <a:t>Week 14: Phase 5 — Knowledge Transfer &amp; Go-Live   |   10 days certified training completion, nationwide branch launch   |   [Gate 5: Full Launch]</a:t>
            </a:r>
          </a:p>
        </p:txBody>
      </p:sp>
      <p:sp>
        <p:nvSpPr>
          <p:cNvPr id="21" name="Rounded Rectangle 20"/>
          <p:cNvSpPr/>
          <p:nvPr/>
        </p:nvSpPr>
        <p:spPr>
          <a:xfrm>
            <a:off x="731520" y="5596128"/>
            <a:ext cx="10652760" cy="621792"/>
          </a:xfrm>
          <a:prstGeom prst="roundRect">
            <a:avLst/>
          </a:prstGeom>
          <a:solidFill>
            <a:srgbClr val="FFFF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5669280"/>
            <a:ext cx="10332720" cy="502920"/>
          </a:xfrm>
          <a:prstGeom prst="rect">
            <a:avLst/>
          </a:prstGeom>
          <a:noFill/>
        </p:spPr>
        <p:txBody>
          <a:bodyPr wrap="square">
            <a:spAutoFit/>
          </a:bodyPr>
          <a:lstStyle/>
          <a:p>
            <a:pPr>
              <a:defRPr sz="950">
                <a:solidFill>
                  <a:srgbClr val="0F172A"/>
                </a:solidFill>
              </a:defRPr>
            </a:pPr>
            <a:r>
              <a:t>Weeks 15–18: Phase 6 — Hypercare Support   |   30 days dedicated on-site and remote engineering support   |   [Final Acceptance]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System Demonstration: Live platform demo focusing on user experience and reporting capabilities</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463040"/>
            <a:ext cx="3429000" cy="4663440"/>
          </a:xfrm>
          <a:prstGeom prst="roundRect">
            <a:avLst/>
          </a:prstGeom>
          <a:solidFill>
            <a:srgbClr val="F0FDF4"/>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45920"/>
            <a:ext cx="3063240" cy="4297680"/>
          </a:xfrm>
          <a:prstGeom prst="rect">
            <a:avLst/>
          </a:prstGeom>
          <a:noFill/>
        </p:spPr>
        <p:txBody>
          <a:bodyPr wrap="square">
            <a:spAutoFit/>
          </a:bodyPr>
          <a:lstStyle/>
          <a:p>
            <a:pPr>
              <a:defRPr sz="1350" b="1">
                <a:solidFill>
                  <a:srgbClr val="006837"/>
                </a:solidFill>
              </a:defRPr>
            </a:pPr>
            <a:r>
              <a:t>1. Branch Learner Persona</a:t>
            </a:r>
          </a:p>
          <a:p>
            <a:pPr>
              <a:defRPr sz="1000" b="1">
                <a:solidFill>
                  <a:srgbClr val="0F172A"/>
                </a:solidFill>
              </a:defRPr>
            </a:pPr>
            <a:r>
              <a:t>Branch Teller / Officer Journey</a:t>
            </a:r>
          </a:p>
          <a:p>
            <a:br/>
            <a:pPr>
              <a:defRPr sz="950">
                <a:solidFill>
                  <a:srgbClr val="334155"/>
                </a:solidFill>
              </a:defRPr>
            </a:pPr>
            <a:r>
              <a:t>• Active Directory Single Sign-On (SSO) login</a:t>
            </a:r>
            <a:br/>
            <a:r>
              <a:t>• Personalized compliance deadline countdown</a:t>
            </a:r>
            <a:br/>
            <a:r>
              <a:t>• Interactive AML/CFT branching scenario simulation (cash structuring detection)</a:t>
            </a:r>
            <a:br/>
            <a:r>
              <a:t>• Instant generation of verifiable PBZ Academy Certificate with digital seal</a:t>
            </a:r>
          </a:p>
        </p:txBody>
      </p:sp>
      <p:sp>
        <p:nvSpPr>
          <p:cNvPr id="11" name="Rounded Rectangle 10"/>
          <p:cNvSpPr/>
          <p:nvPr/>
        </p:nvSpPr>
        <p:spPr>
          <a:xfrm>
            <a:off x="4343400" y="1463040"/>
            <a:ext cx="3429000" cy="4663440"/>
          </a:xfrm>
          <a:prstGeom prst="roundRect">
            <a:avLst/>
          </a:prstGeom>
          <a:solidFill>
            <a:srgbClr val="F0F9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645920"/>
            <a:ext cx="3063240" cy="4297680"/>
          </a:xfrm>
          <a:prstGeom prst="rect">
            <a:avLst/>
          </a:prstGeom>
          <a:noFill/>
        </p:spPr>
        <p:txBody>
          <a:bodyPr wrap="square">
            <a:spAutoFit/>
          </a:bodyPr>
          <a:lstStyle/>
          <a:p>
            <a:pPr>
              <a:defRPr sz="1350" b="1">
                <a:solidFill>
                  <a:srgbClr val="005B8E"/>
                </a:solidFill>
              </a:defRPr>
            </a:pPr>
            <a:r>
              <a:t>2. Executive &amp; Compliance Persona</a:t>
            </a:r>
          </a:p>
          <a:p>
            <a:pPr>
              <a:defRPr sz="1000" b="1">
                <a:solidFill>
                  <a:srgbClr val="0F172A"/>
                </a:solidFill>
              </a:defRPr>
            </a:pPr>
            <a:r>
              <a:t>Head of HR &amp; Regulatory Compliance</a:t>
            </a:r>
          </a:p>
          <a:p>
            <a:br/>
            <a:pPr>
              <a:defRPr sz="950">
                <a:solidFill>
                  <a:srgbClr val="334155"/>
                </a:solidFill>
              </a:defRPr>
            </a:pPr>
            <a:r>
              <a:t>• Real-time compliance heatmap across all 34 branches in Zanzibar &amp; Mainland Tanzania</a:t>
            </a:r>
            <a:br/>
            <a:r>
              <a:t>• Department &amp; branch drill-down capability (Forodhani 98% vs Kariakoo 88%)</a:t>
            </a:r>
            <a:br/>
            <a:r>
              <a:t>• One-click official Bank of Tanzania (BOT) compliance audit export in Excel/PDF</a:t>
            </a:r>
          </a:p>
        </p:txBody>
      </p:sp>
      <p:sp>
        <p:nvSpPr>
          <p:cNvPr id="13" name="Rounded Rectangle 12"/>
          <p:cNvSpPr/>
          <p:nvPr/>
        </p:nvSpPr>
        <p:spPr>
          <a:xfrm>
            <a:off x="7955280" y="1463040"/>
            <a:ext cx="3429000" cy="4663440"/>
          </a:xfrm>
          <a:prstGeom prst="roundRect">
            <a:avLst/>
          </a:prstGeom>
          <a:solidFill>
            <a:srgbClr val="F0F9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60" y="1645920"/>
            <a:ext cx="3063240" cy="4297680"/>
          </a:xfrm>
          <a:prstGeom prst="rect">
            <a:avLst/>
          </a:prstGeom>
          <a:noFill/>
        </p:spPr>
        <p:txBody>
          <a:bodyPr wrap="square">
            <a:spAutoFit/>
          </a:bodyPr>
          <a:lstStyle/>
          <a:p>
            <a:pPr>
              <a:defRPr sz="1350" b="1">
                <a:solidFill>
                  <a:srgbClr val="0088CC"/>
                </a:solidFill>
              </a:defRPr>
            </a:pPr>
            <a:r>
              <a:t>3. IT Administrator Persona</a:t>
            </a:r>
          </a:p>
          <a:p>
            <a:pPr>
              <a:defRPr sz="1000" b="1">
                <a:solidFill>
                  <a:srgbClr val="0F172A"/>
                </a:solidFill>
              </a:defRPr>
            </a:pPr>
            <a:r>
              <a:t>Chief Information Officer / LMS Admin</a:t>
            </a:r>
          </a:p>
          <a:p>
            <a:br/>
            <a:pPr>
              <a:defRPr sz="950">
                <a:solidFill>
                  <a:srgbClr val="334155"/>
                </a:solidFill>
              </a:defRPr>
            </a:pPr>
            <a:r>
              <a:t>• Automated Active Directory synchronization and branch cohort assignments</a:t>
            </a:r>
            <a:br/>
            <a:r>
              <a:t>• Live inspection of immutable security audit logs (forensic login &amp; score tracking)</a:t>
            </a:r>
            <a:br/>
            <a:r>
              <a:t>• Redis caching performance and PostgreSQL cluster query metrics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Appendix: Anticipated Tough Questions &amp; Boardroom Defense</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731520" y="1371600"/>
            <a:ext cx="10652760" cy="1508760"/>
          </a:xfrm>
          <a:prstGeom prst="roundRect">
            <a:avLst/>
          </a:prstGeom>
          <a:solidFill>
            <a:srgbClr val="F0FDF4"/>
          </a:solidFill>
          <a:ln w="190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481328"/>
            <a:ext cx="10287000" cy="1325880"/>
          </a:xfrm>
          <a:prstGeom prst="rect">
            <a:avLst/>
          </a:prstGeom>
          <a:noFill/>
        </p:spPr>
        <p:txBody>
          <a:bodyPr wrap="square">
            <a:spAutoFit/>
          </a:bodyPr>
          <a:lstStyle/>
          <a:p>
            <a:pPr>
              <a:defRPr sz="1150" b="1">
                <a:solidFill>
                  <a:srgbClr val="006837"/>
                </a:solidFill>
              </a:defRPr>
            </a:pPr>
            <a:r>
              <a:t>Q1: 'Why not purchase a turnkey cloud SaaS like SAP SuccessFactors or Cornerstone?'</a:t>
            </a:r>
          </a:p>
          <a:p>
            <a:pPr>
              <a:defRPr sz="950">
                <a:solidFill>
                  <a:srgbClr val="334155"/>
                </a:solidFill>
              </a:defRPr>
            </a:pPr>
            <a:r>
              <a:t>1) Data Sovereignty: SaaS platforms host banking records outside Tanzania, violating BOT guidelines and Tanzania PDPA.</a:t>
            </a:r>
            <a:br/>
            <a:r>
              <a:t>2) Exorbitant Cost: SaaS incurs recurring fees ($62k/yr forever). Our open model saves &gt;TZS 450M in 3 years.</a:t>
            </a:r>
            <a:br/>
            <a:r>
              <a:t>3) Islamic Banking: Commercial SaaS cannot support PBZ's specific Amana Islamic finance workflows without costly customization.</a:t>
            </a:r>
          </a:p>
        </p:txBody>
      </p:sp>
      <p:sp>
        <p:nvSpPr>
          <p:cNvPr id="11" name="Rounded Rectangle 10"/>
          <p:cNvSpPr/>
          <p:nvPr/>
        </p:nvSpPr>
        <p:spPr>
          <a:xfrm>
            <a:off x="731520" y="3017520"/>
            <a:ext cx="10652760" cy="1508760"/>
          </a:xfrm>
          <a:prstGeom prst="roundRect">
            <a:avLst/>
          </a:prstGeom>
          <a:solidFill>
            <a:srgbClr val="F0F9FF"/>
          </a:solidFill>
          <a:ln w="19050">
            <a:solidFill>
              <a:srgbClr val="005B8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127248"/>
            <a:ext cx="10287000" cy="1325880"/>
          </a:xfrm>
          <a:prstGeom prst="rect">
            <a:avLst/>
          </a:prstGeom>
          <a:noFill/>
        </p:spPr>
        <p:txBody>
          <a:bodyPr wrap="square">
            <a:spAutoFit/>
          </a:bodyPr>
          <a:lstStyle/>
          <a:p>
            <a:pPr>
              <a:defRPr sz="1150" b="1">
                <a:solidFill>
                  <a:srgbClr val="005B8E"/>
                </a:solidFill>
              </a:defRPr>
            </a:pPr>
            <a:r>
              <a:t>Q2: 'Is open-source software like Moodle sufficiently secure for a commercial bank?'</a:t>
            </a:r>
          </a:p>
          <a:p>
            <a:pPr>
              <a:defRPr sz="950">
                <a:solidFill>
                  <a:srgbClr val="334155"/>
                </a:solidFill>
              </a:defRPr>
            </a:pPr>
            <a:r>
              <a:t>1) Global Defense Trust: Moodle is trusted by the UK Ministry of Defence, major multinational banks, and 400M+ users.</a:t>
            </a:r>
            <a:br/>
            <a:r>
              <a:t>2) Bank-Grade Hardening: Deployed behind PBZ's enterprise WAF with TLS 1.3, AES-256 database encryption, and Active Directory authentication, delivering higher security control than multi-tenant public cloud SaaS.</a:t>
            </a:r>
          </a:p>
        </p:txBody>
      </p:sp>
      <p:sp>
        <p:nvSpPr>
          <p:cNvPr id="13" name="Rounded Rectangle 12"/>
          <p:cNvSpPr/>
          <p:nvPr/>
        </p:nvSpPr>
        <p:spPr>
          <a:xfrm>
            <a:off x="731520" y="4663440"/>
            <a:ext cx="10652760" cy="1508760"/>
          </a:xfrm>
          <a:prstGeom prst="roundRect">
            <a:avLst/>
          </a:prstGeom>
          <a:solidFill>
            <a:srgbClr val="F0F9FF"/>
          </a:solidFill>
          <a:ln w="19050">
            <a:solidFill>
              <a:srgbClr val="0088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773168"/>
            <a:ext cx="10287000" cy="1325880"/>
          </a:xfrm>
          <a:prstGeom prst="rect">
            <a:avLst/>
          </a:prstGeom>
          <a:noFill/>
        </p:spPr>
        <p:txBody>
          <a:bodyPr wrap="square">
            <a:spAutoFit/>
          </a:bodyPr>
          <a:lstStyle/>
          <a:p>
            <a:pPr>
              <a:defRPr sz="1150" b="1">
                <a:solidFill>
                  <a:srgbClr val="0088CC"/>
                </a:solidFill>
              </a:defRPr>
            </a:pPr>
            <a:r>
              <a:t>Q3: 'What happens if our internal IT team has issues after the project finishes?'</a:t>
            </a:r>
          </a:p>
          <a:p>
            <a:pPr>
              <a:defRPr sz="950">
                <a:solidFill>
                  <a:srgbClr val="334155"/>
                </a:solidFill>
              </a:defRPr>
            </a:pPr>
            <a:r>
              <a:t>1) 100% Self-Sufficiency: 10 full days of certified hands-on training, complete SOP manuals, and full Git code repository.</a:t>
            </a:r>
            <a:br/>
            <a:r>
              <a:t>2) Local Support SLA: Tier 1/2 enterprise Support SLA with guaranteed sub-1 hour response times for critical incidents backed by local Tanzanian engineers.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06837"/>
          </a:solidFill>
          <a:ln w="3810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4864"/>
          </a:xfrm>
          <a:prstGeom prst="rect">
            <a:avLst/>
          </a:prstGeom>
          <a:solidFill>
            <a:srgbClr val="008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9728"/>
            <a:ext cx="2011680" cy="822960"/>
          </a:xfrm>
          <a:prstGeom prst="roundRect">
            <a:avLst/>
          </a:prstGeom>
          <a:solidFill>
            <a:srgbClr val="FFFFFF"/>
          </a:solidFill>
          <a:ln w="12700">
            <a:solidFill>
              <a:srgbClr val="BAE6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bz_logo.png"/>
          <p:cNvPicPr>
            <a:picLocks noChangeAspect="1"/>
          </p:cNvPicPr>
          <p:nvPr/>
        </p:nvPicPr>
        <p:blipFill>
          <a:blip r:embed="rId2"/>
          <a:stretch>
            <a:fillRect/>
          </a:stretch>
        </p:blipFill>
        <p:spPr>
          <a:xfrm>
            <a:off x="438912" y="164592"/>
            <a:ext cx="1201233" cy="713232"/>
          </a:xfrm>
          <a:prstGeom prst="rect">
            <a:avLst/>
          </a:prstGeom>
        </p:spPr>
      </p:pic>
      <p:sp>
        <p:nvSpPr>
          <p:cNvPr id="7" name="TextBox 6"/>
          <p:cNvSpPr txBox="1"/>
          <p:nvPr/>
        </p:nvSpPr>
        <p:spPr>
          <a:xfrm>
            <a:off x="2560320" y="109728"/>
            <a:ext cx="8686800" cy="822960"/>
          </a:xfrm>
          <a:prstGeom prst="rect">
            <a:avLst/>
          </a:prstGeom>
          <a:noFill/>
        </p:spPr>
        <p:txBody>
          <a:bodyPr wrap="square" lIns="0" tIns="0" rIns="0" bIns="0">
            <a:spAutoFit/>
          </a:bodyPr>
          <a:lstStyle/>
          <a:p>
            <a:pPr>
              <a:defRPr sz="950" b="1">
                <a:solidFill>
                  <a:srgbClr val="FEF3C7"/>
                </a:solidFill>
                <a:latin typeface="Arial"/>
              </a:defRPr>
            </a:pPr>
            <a:r>
              <a:t>PEOPLE'S BANK OF ZANZIBAR LTD (PBZ) • ENTERPRISE LMS</a:t>
            </a:r>
          </a:p>
          <a:p>
            <a:pPr>
              <a:defRPr sz="1750" b="1">
                <a:solidFill>
                  <a:srgbClr val="FFFFFF"/>
                </a:solidFill>
                <a:latin typeface="Arial"/>
              </a:defRPr>
            </a:pPr>
            <a:r>
              <a:t>Conclusion: Summary of Recommendations &amp; Next Steps</a:t>
            </a:r>
          </a:p>
        </p:txBody>
      </p:sp>
      <p:sp>
        <p:nvSpPr>
          <p:cNvPr id="8" name="TextBox 7"/>
          <p:cNvSpPr txBox="1"/>
          <p:nvPr/>
        </p:nvSpPr>
        <p:spPr>
          <a:xfrm>
            <a:off x="457200" y="6537960"/>
            <a:ext cx="11277295" cy="274320"/>
          </a:xfrm>
          <a:prstGeom prst="rect">
            <a:avLst/>
          </a:prstGeom>
          <a:noFill/>
        </p:spPr>
        <p:txBody>
          <a:bodyPr wrap="none">
            <a:spAutoFit/>
          </a:bodyPr>
          <a:lstStyle/>
          <a:p>
            <a:pPr>
              <a:defRPr sz="850">
                <a:solidFill>
                  <a:srgbClr val="64748B"/>
                </a:solidFill>
              </a:defRPr>
            </a:pPr>
            <a:r>
              <a:t>People's Bank of Zanzibar Ltd (PBZ)  •  Boardroom Proposal Defense &amp; Management Dossier  •  October 2026</a:t>
            </a:r>
          </a:p>
        </p:txBody>
      </p:sp>
      <p:sp>
        <p:nvSpPr>
          <p:cNvPr id="9" name="Rounded Rectangle 8"/>
          <p:cNvSpPr/>
          <p:nvPr/>
        </p:nvSpPr>
        <p:spPr>
          <a:xfrm>
            <a:off x="1371600" y="1645920"/>
            <a:ext cx="9448495" cy="4389120"/>
          </a:xfrm>
          <a:prstGeom prst="roundRect">
            <a:avLst/>
          </a:prstGeom>
          <a:solidFill>
            <a:srgbClr val="FFFFFF"/>
          </a:solidFill>
          <a:ln w="31750">
            <a:solidFill>
              <a:srgbClr val="0068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1920240"/>
            <a:ext cx="8899855" cy="3840480"/>
          </a:xfrm>
          <a:prstGeom prst="rect">
            <a:avLst/>
          </a:prstGeom>
          <a:noFill/>
        </p:spPr>
        <p:txBody>
          <a:bodyPr wrap="square">
            <a:spAutoFit/>
          </a:bodyPr>
          <a:lstStyle/>
          <a:p>
            <a:pPr>
              <a:defRPr sz="1700" b="1">
                <a:solidFill>
                  <a:srgbClr val="006837"/>
                </a:solidFill>
              </a:defRPr>
            </a:pPr>
            <a:r>
              <a:t>Recommendation for PBZ Board Evaluation Committee Approval</a:t>
            </a:r>
          </a:p>
          <a:p>
            <a:br/>
            <a:pPr>
              <a:defRPr sz="1100">
                <a:solidFill>
                  <a:srgbClr val="334155"/>
                </a:solidFill>
              </a:defRPr>
            </a:pPr>
            <a:r>
              <a:t>1. Strategic Approval: Authorize the turnkey implementation of the PBZ Enterprise Learning Management System (LMS) based on the open enterprise Moodle banking core.</a:t>
            </a:r>
            <a:br/>
            <a:br/>
            <a:r>
              <a:t>2. Sovereign Deployment: Establish the multi-tier High-Availability infrastructure within PBZ's internal network / sovereign private cloud in full compliance with Bank of Tanzania Cybersecurity Guidelines and the Tanzania PDPA.</a:t>
            </a:r>
            <a:br/>
            <a:br/>
            <a:r>
              <a:t>3. Financial Prudence: Secure 100% perpetual ownership of code, configurations, and database for a total professional fee of TZS 100,100,000 (~$38,200 USD), delivering over TZS 450M in 3-year savings compared to recurring cloud SaaS.</a:t>
            </a:r>
            <a:br/>
            <a:br/>
            <a:r>
              <a:t>4. Immediate Next Step: Sign-off on Gate 1 (Blueprint &amp; Architecture) to initiate Sprint 1 requirements kickoff.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